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4" r:id="rId3"/>
    <p:sldId id="267" r:id="rId4"/>
    <p:sldId id="268" r:id="rId5"/>
    <p:sldId id="277" r:id="rId6"/>
    <p:sldId id="278" r:id="rId7"/>
    <p:sldId id="269" r:id="rId8"/>
    <p:sldId id="279" r:id="rId9"/>
    <p:sldId id="272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2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C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92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690" y="390"/>
      </p:cViewPr>
      <p:guideLst>
        <p:guide orient="horz" pos="4008"/>
        <p:guide pos="3840"/>
        <p:guide orient="horz" pos="576"/>
        <p:guide orient="horz" pos="2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F6C0F-6C1A-4846-A78B-2019EC7A5A0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0A86D-5024-4350-A9C6-9389693B0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56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224B-FA27-4BCB-A26A-ADE45C59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BA7C3-DC9D-406C-B076-C0EF547FD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F5F6D-871C-4205-8D1F-4A75D2E3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F35F7-EF06-45F2-B57F-6F048A3C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1CA4-B90D-4E32-901D-48FA8E2D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1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1EE9-276F-4ECC-914F-3840024B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04F50-AF49-4C03-830B-419E956A6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B5F91-1B6D-440D-B9E1-29FB3BD1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A01E-DFDC-45CD-8C59-1ACC09CF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775F8-5AC9-4483-BDAA-960FCE9D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3CE1-F66E-4EFB-A061-3D89731B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AA2FD-0BB0-48E3-961D-415CA7A19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3049-6C69-4CEC-82C8-8B99C166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A7B9-7A8C-4781-8527-07CB306F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7E066-AC32-4EBF-8C62-9F9C88D1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6EC4-6F49-4C22-9574-222E2B6D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788F-73D7-4BA8-A517-673D68DE4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83F72-07E8-4522-BCD6-190E86E83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B5A81-3252-41EF-8E89-7F2F734C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4087F-4B5D-4BCC-A8B7-6AD823B2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8DD92-971F-4EBE-82A7-ABE3B785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8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EDE5-DAA6-4AB4-ADAE-D4B0864A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DC08B-144E-41B1-B2E2-DD0D97F62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81F46-A6AB-4DE4-830D-D42782E07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72667-A2FE-4E9B-B0C0-1AB4FD8C0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A267E-14B3-415C-9BD0-93A240086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7AB91A-F6A2-4D2C-803D-2B96DE11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20F70-97D6-4A4B-83E9-F2DE6EA4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A4884-361A-4BDD-A109-580661DC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5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796A-C94D-40D6-A532-B5030D21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9960D-4FE0-44C2-8E79-EA02757B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C9FF4-BA2A-4F83-91EC-84FCCC9B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A5C75-66DE-4C60-955C-C799276F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6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05E97-12E7-4C3D-9AA5-EBFC6570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5EBE5-1AF8-4A20-85BC-AF631493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C7D4C-E75D-4022-B23A-8EED484F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7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53C1-7859-4B7B-83ED-CBE53339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25BBE-A5F4-4139-A1E2-128DFC9C3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9AD82-97A1-4C12-A331-06D9FEEB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93360-E200-4472-A28E-20B74943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B9387-B863-4CDD-922B-D6EC8215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533D-ACE7-4A22-9109-6B53A4D1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70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90AC-FB79-4573-A675-21B5F35C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B17C0-8AEC-4F51-9EB0-3F1F9FA2C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F1576-9819-4AE5-8F60-6A3A3901E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A9B03-8235-4947-B1E9-22457F9B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03FB9-4F6E-42F4-9E0B-6A259DC6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71CE-F3BA-4B47-8232-C128D36D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2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E9B3-7C95-489C-8A32-22132209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C582-CFBA-44E8-9DEF-3BDBC6D30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17DE-6261-4E66-A4A9-D0E7D9D9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C2ACC-BCE2-4B89-8021-528A0E04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0424C-3425-45D1-A35B-4196E56F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9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84659-4BF3-4C22-A102-68D558736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7050F-96F2-4453-A76B-BDA3FE830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E29D8-7726-4466-ABEB-1288F7FE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61D5F-5CAC-4BC5-B5B2-E67EE06C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49DB4-AB6D-490B-97D2-DCC78814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2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73116-EE46-49BA-AF9B-CA43FFA14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CCFC0-B77B-44C8-A097-50FD5B1E6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219E-49F0-4E39-A5A1-E39D165F6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24056-FCF2-42B5-B363-49EAD26F8DC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4ACBE-0631-4B94-AC44-AFCA522D6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D36C1-B418-4475-AD06-D82B86987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4C915-17D6-486A-86EC-048CBE10C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2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hart" Target="../charts/chart2.xml"/><Relationship Id="rId7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chart" Target="../charts/chart3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aproxy.org/docs/desktop/" TargetMode="External"/><Relationship Id="rId7" Type="http://schemas.openxmlformats.org/officeDocument/2006/relationships/hyperlink" Target="https://www.zaproxy.org/docs/" TargetMode="External"/><Relationship Id="rId2" Type="http://schemas.openxmlformats.org/officeDocument/2006/relationships/hyperlink" Target="https://github.com/zaproxy/zaproxy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ebscantest.com/" TargetMode="External"/><Relationship Id="rId5" Type="http://schemas.openxmlformats.org/officeDocument/2006/relationships/hyperlink" Target="https://github.com/zaproxy/zap-hud" TargetMode="External"/><Relationship Id="rId4" Type="http://schemas.openxmlformats.org/officeDocument/2006/relationships/hyperlink" Target="https://www.zaproxy.org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141D334-8434-4AF3-8014-473FA6D366EC}"/>
              </a:ext>
            </a:extLst>
          </p:cNvPr>
          <p:cNvSpPr/>
          <p:nvPr/>
        </p:nvSpPr>
        <p:spPr>
          <a:xfrm rot="16200000" flipH="1">
            <a:off x="5338916" y="-1"/>
            <a:ext cx="6853083" cy="685308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109F2C-FA85-4317-916E-0B4E5F44B020}"/>
              </a:ext>
            </a:extLst>
          </p:cNvPr>
          <p:cNvCxnSpPr>
            <a:cxnSpLocks/>
          </p:cNvCxnSpPr>
          <p:nvPr/>
        </p:nvCxnSpPr>
        <p:spPr>
          <a:xfrm>
            <a:off x="0" y="2844800"/>
            <a:ext cx="12191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FAA3927-C37E-494D-8BDF-527955E5174E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34CAC-2B52-47E8-9B57-E3B791389FE1}"/>
              </a:ext>
            </a:extLst>
          </p:cNvPr>
          <p:cNvSpPr/>
          <p:nvPr/>
        </p:nvSpPr>
        <p:spPr>
          <a:xfrm>
            <a:off x="10058400" y="257175"/>
            <a:ext cx="2133600" cy="6286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F98AFC32-7F02-43CB-8485-44B6B2E13FCA}"/>
              </a:ext>
            </a:extLst>
          </p:cNvPr>
          <p:cNvSpPr/>
          <p:nvPr/>
        </p:nvSpPr>
        <p:spPr>
          <a:xfrm>
            <a:off x="6013450" y="679450"/>
            <a:ext cx="4330700" cy="4330700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1F35E-9892-4FEF-BD72-1351948704E9}"/>
              </a:ext>
            </a:extLst>
          </p:cNvPr>
          <p:cNvSpPr txBox="1"/>
          <p:nvPr/>
        </p:nvSpPr>
        <p:spPr>
          <a:xfrm>
            <a:off x="742950" y="3230502"/>
            <a:ext cx="60833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b="1" dirty="0">
                <a:latin typeface="+mj-lt"/>
              </a:rPr>
              <a:t>OWASP ZAP HUD</a:t>
            </a:r>
            <a:endParaRPr lang="en-US" sz="5400" dirty="0"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CE9114-D71A-4E98-B784-622823EE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509" y="311051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wasp Logo Flat2 Icon &gt; Cydrill Software Security">
            <a:extLst>
              <a:ext uri="{FF2B5EF4-FFF2-40B4-BE49-F238E27FC236}">
                <a16:creationId xmlns:a16="http://schemas.microsoft.com/office/drawing/2014/main" id="{D5EFC95D-89A5-46E1-B7DA-27DB917E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779" y="1796193"/>
            <a:ext cx="1384663" cy="138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egrate OWASP ZAP with ThreadFix">
            <a:extLst>
              <a:ext uri="{FF2B5EF4-FFF2-40B4-BE49-F238E27FC236}">
                <a16:creationId xmlns:a16="http://schemas.microsoft.com/office/drawing/2014/main" id="{7B9A0122-6C4B-43A6-AE11-508363F98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510" y="1744484"/>
            <a:ext cx="2593607" cy="148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33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iamond 46">
            <a:extLst>
              <a:ext uri="{FF2B5EF4-FFF2-40B4-BE49-F238E27FC236}">
                <a16:creationId xmlns:a16="http://schemas.microsoft.com/office/drawing/2014/main" id="{F9C7AFB2-24A2-4693-9A70-5D03D4FEAA84}"/>
              </a:ext>
            </a:extLst>
          </p:cNvPr>
          <p:cNvSpPr/>
          <p:nvPr/>
        </p:nvSpPr>
        <p:spPr>
          <a:xfrm>
            <a:off x="1671651" y="1572799"/>
            <a:ext cx="1991395" cy="1991396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3/16/2021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F0F11D57-9BDA-4C03-8DC2-D33A21A1AC1F}"/>
              </a:ext>
            </a:extLst>
          </p:cNvPr>
          <p:cNvGraphicFramePr/>
          <p:nvPr/>
        </p:nvGraphicFramePr>
        <p:xfrm>
          <a:off x="5958441" y="2029630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B4D63E8C-D462-411D-89C7-1190F7315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4067733"/>
              </p:ext>
            </p:extLst>
          </p:nvPr>
        </p:nvGraphicFramePr>
        <p:xfrm>
          <a:off x="1570955" y="1974979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7" name="Chart 86">
            <a:extLst>
              <a:ext uri="{FF2B5EF4-FFF2-40B4-BE49-F238E27FC236}">
                <a16:creationId xmlns:a16="http://schemas.microsoft.com/office/drawing/2014/main" id="{D5EF5671-A69B-4DCE-B744-04ED7E4078F5}"/>
              </a:ext>
            </a:extLst>
          </p:cNvPr>
          <p:cNvGraphicFramePr/>
          <p:nvPr/>
        </p:nvGraphicFramePr>
        <p:xfrm>
          <a:off x="5958441" y="4850911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779477" y="3773201"/>
            <a:ext cx="5235969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dirty="0">
                <a:latin typeface="+mj-lt"/>
              </a:rPr>
              <a:t>OWASP Zed Attack Proxy (ZAP)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7EB124-CE7C-4645-B84D-B125C8F3F54C}"/>
              </a:ext>
            </a:extLst>
          </p:cNvPr>
          <p:cNvSpPr/>
          <p:nvPr/>
        </p:nvSpPr>
        <p:spPr>
          <a:xfrm>
            <a:off x="779478" y="4391906"/>
            <a:ext cx="4912459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An open-source web application scanner maintained by the Open Web Application Security Project (OWASP) which is catered towards individuals who are new to application security as well as professional penetration testers</a:t>
            </a:r>
            <a:endParaRPr lang="en-US" sz="16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535FBE3-3CEA-48E1-9A73-21021F8C8D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9478" y="1556666"/>
            <a:ext cx="1991395" cy="1991395"/>
          </a:xfrm>
          <a:custGeom>
            <a:avLst/>
            <a:gdLst>
              <a:gd name="connsiteX0" fmla="*/ 2165350 w 4330700"/>
              <a:gd name="connsiteY0" fmla="*/ 0 h 4330700"/>
              <a:gd name="connsiteX1" fmla="*/ 4330700 w 4330700"/>
              <a:gd name="connsiteY1" fmla="*/ 2165350 h 4330700"/>
              <a:gd name="connsiteX2" fmla="*/ 2165350 w 4330700"/>
              <a:gd name="connsiteY2" fmla="*/ 4330700 h 4330700"/>
              <a:gd name="connsiteX3" fmla="*/ 0 w 4330700"/>
              <a:gd name="connsiteY3" fmla="*/ 216535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4330700">
                <a:moveTo>
                  <a:pt x="2165350" y="0"/>
                </a:moveTo>
                <a:lnTo>
                  <a:pt x="4330700" y="2165350"/>
                </a:lnTo>
                <a:lnTo>
                  <a:pt x="2165350" y="4330700"/>
                </a:lnTo>
                <a:lnTo>
                  <a:pt x="0" y="2165350"/>
                </a:lnTo>
                <a:close/>
              </a:path>
            </a:pathLst>
          </a:custGeom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9D8F7E29-BB3A-4BC5-9348-08ACF3883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61" y="1887141"/>
            <a:ext cx="1274822" cy="127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Diamond 123">
            <a:extLst>
              <a:ext uri="{FF2B5EF4-FFF2-40B4-BE49-F238E27FC236}">
                <a16:creationId xmlns:a16="http://schemas.microsoft.com/office/drawing/2014/main" id="{F65DA0DE-E03D-4C8B-9954-A8D440E6DFFD}"/>
              </a:ext>
            </a:extLst>
          </p:cNvPr>
          <p:cNvSpPr/>
          <p:nvPr/>
        </p:nvSpPr>
        <p:spPr>
          <a:xfrm>
            <a:off x="1154899" y="1572754"/>
            <a:ext cx="2135740" cy="2135740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OWASP's bug bounty program | Bugcrowd">
            <a:extLst>
              <a:ext uri="{FF2B5EF4-FFF2-40B4-BE49-F238E27FC236}">
                <a16:creationId xmlns:a16="http://schemas.microsoft.com/office/drawing/2014/main" id="{E61D00A4-9F59-4465-895F-E97D411A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838" y="1939389"/>
            <a:ext cx="1443489" cy="144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3474CE-BBBD-44E4-BDA5-A6D632B743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3889" y="930098"/>
            <a:ext cx="3686175" cy="13239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3A8CA2-1518-4D4D-B5BD-EFBB222BCC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4249" y="2524164"/>
            <a:ext cx="4585456" cy="335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7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+mj-lt"/>
              </a:rPr>
              <a:t>Features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3</a:t>
            </a:fld>
            <a:endParaRPr lang="en-US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ACFB9DC-DABE-4F83-86AC-62F02C9CDF0E}"/>
              </a:ext>
            </a:extLst>
          </p:cNvPr>
          <p:cNvGrpSpPr/>
          <p:nvPr/>
        </p:nvGrpSpPr>
        <p:grpSpPr>
          <a:xfrm>
            <a:off x="6500065" y="2475314"/>
            <a:ext cx="5001650" cy="492443"/>
            <a:chOff x="2562895" y="1897663"/>
            <a:chExt cx="5001650" cy="492443"/>
          </a:xfrm>
        </p:grpSpPr>
        <p:sp>
          <p:nvSpPr>
            <p:cNvPr id="108" name="Freeform 4460">
              <a:extLst>
                <a:ext uri="{FF2B5EF4-FFF2-40B4-BE49-F238E27FC236}">
                  <a16:creationId xmlns:a16="http://schemas.microsoft.com/office/drawing/2014/main" id="{E4C6E5F0-5668-40BC-A1A2-F87034476A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6D38C54-73B5-458A-8A09-B57A44BCC08D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Scan components (URLs, responses) can be exported so that they can be used/analyzed in other apps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DE00429-5E8E-4429-9682-DA7D2572D246}"/>
              </a:ext>
            </a:extLst>
          </p:cNvPr>
          <p:cNvGrpSpPr/>
          <p:nvPr/>
        </p:nvGrpSpPr>
        <p:grpSpPr>
          <a:xfrm>
            <a:off x="6500065" y="3748817"/>
            <a:ext cx="5001650" cy="738664"/>
            <a:chOff x="2562895" y="1897663"/>
            <a:chExt cx="5001650" cy="738664"/>
          </a:xfrm>
        </p:grpSpPr>
        <p:sp>
          <p:nvSpPr>
            <p:cNvPr id="111" name="Freeform 4460">
              <a:extLst>
                <a:ext uri="{FF2B5EF4-FFF2-40B4-BE49-F238E27FC236}">
                  <a16:creationId xmlns:a16="http://schemas.microsoft.com/office/drawing/2014/main" id="{05B9A8E5-99FA-4670-A7E6-04438D2C7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7F6964E-9077-4AAC-8312-03C775E56FAA}"/>
                </a:ext>
              </a:extLst>
            </p:cNvPr>
            <p:cNvSpPr txBox="1"/>
            <p:nvPr/>
          </p:nvSpPr>
          <p:spPr>
            <a:xfrm>
              <a:off x="3129915" y="1897663"/>
              <a:ext cx="4434630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Allows the generation of reports based on the results of the scanner; various formats available (HTML, XML, JSON, Markdown)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6724609-28EE-42DB-9F3B-EEDB40BDD7F0}"/>
              </a:ext>
            </a:extLst>
          </p:cNvPr>
          <p:cNvGrpSpPr/>
          <p:nvPr/>
        </p:nvGrpSpPr>
        <p:grpSpPr>
          <a:xfrm>
            <a:off x="6500065" y="5194946"/>
            <a:ext cx="5001650" cy="492443"/>
            <a:chOff x="2562895" y="1897663"/>
            <a:chExt cx="5001650" cy="492443"/>
          </a:xfrm>
        </p:grpSpPr>
        <p:sp>
          <p:nvSpPr>
            <p:cNvPr id="114" name="Freeform 4460">
              <a:extLst>
                <a:ext uri="{FF2B5EF4-FFF2-40B4-BE49-F238E27FC236}">
                  <a16:creationId xmlns:a16="http://schemas.microsoft.com/office/drawing/2014/main" id="{9E98C972-7E1A-4933-894F-10F0CEC23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D45F7D0-5DBF-43C0-8F72-3658371FC1BE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Has add-on support for community-developed plugins for additional functionality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4EF0F05E-48D7-4BEA-87B0-AA945126759D}"/>
              </a:ext>
            </a:extLst>
          </p:cNvPr>
          <p:cNvSpPr txBox="1"/>
          <p:nvPr/>
        </p:nvSpPr>
        <p:spPr>
          <a:xfrm>
            <a:off x="7067084" y="955590"/>
            <a:ext cx="443463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Built-in traditional and AJAX web crawlers (spiders), intercepting proxy server, automated and passive scanner, and </a:t>
            </a:r>
            <a:r>
              <a:rPr lang="en-US" sz="1600" dirty="0" err="1"/>
              <a:t>fuzzer</a:t>
            </a:r>
            <a:endParaRPr lang="en-US" sz="1600" dirty="0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8525BBF-A2AF-4A45-8E58-1767BCAFC372}"/>
              </a:ext>
            </a:extLst>
          </p:cNvPr>
          <p:cNvGrpSpPr/>
          <p:nvPr/>
        </p:nvGrpSpPr>
        <p:grpSpPr>
          <a:xfrm>
            <a:off x="6500065" y="1025199"/>
            <a:ext cx="355600" cy="355600"/>
            <a:chOff x="907856" y="1936892"/>
            <a:chExt cx="355600" cy="355600"/>
          </a:xfrm>
        </p:grpSpPr>
        <p:sp>
          <p:nvSpPr>
            <p:cNvPr id="118" name="Freeform 4460">
              <a:extLst>
                <a:ext uri="{FF2B5EF4-FFF2-40B4-BE49-F238E27FC236}">
                  <a16:creationId xmlns:a16="http://schemas.microsoft.com/office/drawing/2014/main" id="{C1752753-9E68-4981-B8E5-6EA37A2141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5B9BA2A-3E21-4A1B-94A4-40CBFA670B84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023E01F-2B0F-4A96-ADAE-B51EB93CE427}"/>
              </a:ext>
            </a:extLst>
          </p:cNvPr>
          <p:cNvGrpSpPr/>
          <p:nvPr/>
        </p:nvGrpSpPr>
        <p:grpSpPr>
          <a:xfrm>
            <a:off x="6500065" y="2544775"/>
            <a:ext cx="355600" cy="355600"/>
            <a:chOff x="907856" y="1936892"/>
            <a:chExt cx="355600" cy="355600"/>
          </a:xfrm>
        </p:grpSpPr>
        <p:sp>
          <p:nvSpPr>
            <p:cNvPr id="121" name="Freeform 4460">
              <a:extLst>
                <a:ext uri="{FF2B5EF4-FFF2-40B4-BE49-F238E27FC236}">
                  <a16:creationId xmlns:a16="http://schemas.microsoft.com/office/drawing/2014/main" id="{BB51F39A-7C4E-4F85-9DE4-3DD25F5EDD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2743D85-D54A-4021-990E-18690686E050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4B8D18D-FCA6-4763-A59E-B0C73E63400F}"/>
              </a:ext>
            </a:extLst>
          </p:cNvPr>
          <p:cNvGrpSpPr/>
          <p:nvPr/>
        </p:nvGrpSpPr>
        <p:grpSpPr>
          <a:xfrm>
            <a:off x="6500065" y="3823856"/>
            <a:ext cx="355600" cy="355600"/>
            <a:chOff x="907856" y="1936892"/>
            <a:chExt cx="355600" cy="355600"/>
          </a:xfrm>
        </p:grpSpPr>
        <p:sp>
          <p:nvSpPr>
            <p:cNvPr id="124" name="Freeform 4460">
              <a:extLst>
                <a:ext uri="{FF2B5EF4-FFF2-40B4-BE49-F238E27FC236}">
                  <a16:creationId xmlns:a16="http://schemas.microsoft.com/office/drawing/2014/main" id="{88FDB414-1835-4485-A2F5-7C2442031F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C313E18-EE49-48E4-BEC1-2F5462AF5DBB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9BE730F-AAD0-429C-976E-90B62C842E55}"/>
              </a:ext>
            </a:extLst>
          </p:cNvPr>
          <p:cNvGrpSpPr/>
          <p:nvPr/>
        </p:nvGrpSpPr>
        <p:grpSpPr>
          <a:xfrm>
            <a:off x="6500065" y="5259125"/>
            <a:ext cx="355600" cy="355600"/>
            <a:chOff x="907856" y="1936892"/>
            <a:chExt cx="355600" cy="355600"/>
          </a:xfrm>
        </p:grpSpPr>
        <p:sp>
          <p:nvSpPr>
            <p:cNvPr id="127" name="Freeform 4460">
              <a:extLst>
                <a:ext uri="{FF2B5EF4-FFF2-40B4-BE49-F238E27FC236}">
                  <a16:creationId xmlns:a16="http://schemas.microsoft.com/office/drawing/2014/main" id="{28985D3F-5B7E-4EBF-8DB8-04EEF5DCA1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E06A14C-259F-43D2-AC77-06DBF1265F85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139" name="Diamond 138">
            <a:extLst>
              <a:ext uri="{FF2B5EF4-FFF2-40B4-BE49-F238E27FC236}">
                <a16:creationId xmlns:a16="http://schemas.microsoft.com/office/drawing/2014/main" id="{02059016-E65B-468A-ABC4-E7CC6DAC590C}"/>
              </a:ext>
            </a:extLst>
          </p:cNvPr>
          <p:cNvSpPr/>
          <p:nvPr/>
        </p:nvSpPr>
        <p:spPr>
          <a:xfrm>
            <a:off x="1671651" y="1572799"/>
            <a:ext cx="1991395" cy="1991396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40" name="Chart 139">
            <a:extLst>
              <a:ext uri="{FF2B5EF4-FFF2-40B4-BE49-F238E27FC236}">
                <a16:creationId xmlns:a16="http://schemas.microsoft.com/office/drawing/2014/main" id="{F4C5DC2B-9361-4CC0-B569-CE3CE45556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113723"/>
              </p:ext>
            </p:extLst>
          </p:nvPr>
        </p:nvGraphicFramePr>
        <p:xfrm>
          <a:off x="1570955" y="1974979"/>
          <a:ext cx="1664752" cy="138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Box 140">
            <a:extLst>
              <a:ext uri="{FF2B5EF4-FFF2-40B4-BE49-F238E27FC236}">
                <a16:creationId xmlns:a16="http://schemas.microsoft.com/office/drawing/2014/main" id="{2D41903E-26AD-4A0B-AC66-67A0BDB12C42}"/>
              </a:ext>
            </a:extLst>
          </p:cNvPr>
          <p:cNvSpPr txBox="1"/>
          <p:nvPr/>
        </p:nvSpPr>
        <p:spPr>
          <a:xfrm>
            <a:off x="779477" y="3773201"/>
            <a:ext cx="5235969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dirty="0">
                <a:latin typeface="+mj-lt"/>
              </a:rPr>
              <a:t>OWASP Zed Attack Proxy (ZAP)</a:t>
            </a:r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05DF07A9-F206-4F18-A892-9130959E6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9478" y="1556666"/>
            <a:ext cx="1991395" cy="1991395"/>
          </a:xfrm>
          <a:custGeom>
            <a:avLst/>
            <a:gdLst>
              <a:gd name="connsiteX0" fmla="*/ 2165350 w 4330700"/>
              <a:gd name="connsiteY0" fmla="*/ 0 h 4330700"/>
              <a:gd name="connsiteX1" fmla="*/ 4330700 w 4330700"/>
              <a:gd name="connsiteY1" fmla="*/ 2165350 h 4330700"/>
              <a:gd name="connsiteX2" fmla="*/ 2165350 w 4330700"/>
              <a:gd name="connsiteY2" fmla="*/ 4330700 h 4330700"/>
              <a:gd name="connsiteX3" fmla="*/ 0 w 4330700"/>
              <a:gd name="connsiteY3" fmla="*/ 216535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4330700">
                <a:moveTo>
                  <a:pt x="2165350" y="0"/>
                </a:moveTo>
                <a:lnTo>
                  <a:pt x="4330700" y="2165350"/>
                </a:lnTo>
                <a:lnTo>
                  <a:pt x="2165350" y="4330700"/>
                </a:lnTo>
                <a:lnTo>
                  <a:pt x="0" y="2165350"/>
                </a:lnTo>
                <a:close/>
              </a:path>
            </a:pathLst>
          </a:custGeom>
        </p:spPr>
      </p:pic>
      <p:pic>
        <p:nvPicPr>
          <p:cNvPr id="143" name="Picture 2">
            <a:extLst>
              <a:ext uri="{FF2B5EF4-FFF2-40B4-BE49-F238E27FC236}">
                <a16:creationId xmlns:a16="http://schemas.microsoft.com/office/drawing/2014/main" id="{95A0CDC7-F8E8-43A4-A6D0-954558A8F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61" y="1887141"/>
            <a:ext cx="1274822" cy="127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Diamond 143">
            <a:extLst>
              <a:ext uri="{FF2B5EF4-FFF2-40B4-BE49-F238E27FC236}">
                <a16:creationId xmlns:a16="http://schemas.microsoft.com/office/drawing/2014/main" id="{E8B4057C-E733-4E79-A721-2ABF552EBA5A}"/>
              </a:ext>
            </a:extLst>
          </p:cNvPr>
          <p:cNvSpPr/>
          <p:nvPr/>
        </p:nvSpPr>
        <p:spPr>
          <a:xfrm>
            <a:off x="1154899" y="1572754"/>
            <a:ext cx="2135740" cy="2135740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5" name="Picture 2" descr="OWASP's bug bounty program | Bugcrowd">
            <a:extLst>
              <a:ext uri="{FF2B5EF4-FFF2-40B4-BE49-F238E27FC236}">
                <a16:creationId xmlns:a16="http://schemas.microsoft.com/office/drawing/2014/main" id="{6D40C087-B1A7-4B42-8689-635245B4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838" y="1939389"/>
            <a:ext cx="1443489" cy="144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5CFE0603-A17B-4993-B093-67350532071A}"/>
              </a:ext>
            </a:extLst>
          </p:cNvPr>
          <p:cNvCxnSpPr/>
          <p:nvPr/>
        </p:nvCxnSpPr>
        <p:spPr>
          <a:xfrm>
            <a:off x="6360011" y="3429001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ECDC936-B2B5-4152-88BE-260C4BCBC49C}"/>
              </a:ext>
            </a:extLst>
          </p:cNvPr>
          <p:cNvCxnSpPr/>
          <p:nvPr/>
        </p:nvCxnSpPr>
        <p:spPr>
          <a:xfrm>
            <a:off x="6360011" y="4839642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BA59BE1-19ED-483D-9BED-6A0906909436}"/>
              </a:ext>
            </a:extLst>
          </p:cNvPr>
          <p:cNvCxnSpPr/>
          <p:nvPr/>
        </p:nvCxnSpPr>
        <p:spPr>
          <a:xfrm>
            <a:off x="6360011" y="2018360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86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773578" y="3785004"/>
            <a:ext cx="5322422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dirty="0">
                <a:latin typeface="+mj-lt"/>
              </a:rPr>
              <a:t>OWASP Zed Attack Proxy HUD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7EB124-CE7C-4645-B84D-B125C8F3F54C}"/>
              </a:ext>
            </a:extLst>
          </p:cNvPr>
          <p:cNvSpPr/>
          <p:nvPr/>
        </p:nvSpPr>
        <p:spPr>
          <a:xfrm>
            <a:off x="773579" y="4403709"/>
            <a:ext cx="491245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A completely new interface for ZAP that integrates the information and functionality of the scanner directly on the browser</a:t>
            </a:r>
            <a:endParaRPr lang="en-US" sz="160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535FBE3-3CEA-48E1-9A73-21021F8C8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579" y="1568469"/>
            <a:ext cx="1991395" cy="1991395"/>
          </a:xfrm>
          <a:custGeom>
            <a:avLst/>
            <a:gdLst>
              <a:gd name="connsiteX0" fmla="*/ 2165350 w 4330700"/>
              <a:gd name="connsiteY0" fmla="*/ 0 h 4330700"/>
              <a:gd name="connsiteX1" fmla="*/ 4330700 w 4330700"/>
              <a:gd name="connsiteY1" fmla="*/ 2165350 h 4330700"/>
              <a:gd name="connsiteX2" fmla="*/ 2165350 w 4330700"/>
              <a:gd name="connsiteY2" fmla="*/ 4330700 h 4330700"/>
              <a:gd name="connsiteX3" fmla="*/ 0 w 4330700"/>
              <a:gd name="connsiteY3" fmla="*/ 216535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4330700">
                <a:moveTo>
                  <a:pt x="2165350" y="0"/>
                </a:moveTo>
                <a:lnTo>
                  <a:pt x="4330700" y="2165350"/>
                </a:lnTo>
                <a:lnTo>
                  <a:pt x="2165350" y="4330700"/>
                </a:lnTo>
                <a:lnTo>
                  <a:pt x="0" y="2165350"/>
                </a:lnTo>
                <a:close/>
              </a:path>
            </a:pathLst>
          </a:cu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AFA2DF01-8A41-421C-A104-B7A68F2371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8767" y="1568469"/>
            <a:ext cx="1991395" cy="1991395"/>
          </a:xfrm>
          <a:custGeom>
            <a:avLst/>
            <a:gdLst>
              <a:gd name="connsiteX0" fmla="*/ 2165350 w 4330700"/>
              <a:gd name="connsiteY0" fmla="*/ 0 h 4330700"/>
              <a:gd name="connsiteX1" fmla="*/ 4330700 w 4330700"/>
              <a:gd name="connsiteY1" fmla="*/ 2165350 h 4330700"/>
              <a:gd name="connsiteX2" fmla="*/ 2165350 w 4330700"/>
              <a:gd name="connsiteY2" fmla="*/ 4330700 h 4330700"/>
              <a:gd name="connsiteX3" fmla="*/ 0 w 4330700"/>
              <a:gd name="connsiteY3" fmla="*/ 216535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4330700">
                <a:moveTo>
                  <a:pt x="2165350" y="0"/>
                </a:moveTo>
                <a:lnTo>
                  <a:pt x="4330700" y="2165350"/>
                </a:lnTo>
                <a:lnTo>
                  <a:pt x="2165350" y="4330700"/>
                </a:lnTo>
                <a:lnTo>
                  <a:pt x="0" y="2165350"/>
                </a:lnTo>
                <a:close/>
              </a:path>
            </a:pathLst>
          </a:custGeom>
        </p:spPr>
      </p:pic>
      <p:sp>
        <p:nvSpPr>
          <p:cNvPr id="124" name="Diamond 123">
            <a:extLst>
              <a:ext uri="{FF2B5EF4-FFF2-40B4-BE49-F238E27FC236}">
                <a16:creationId xmlns:a16="http://schemas.microsoft.com/office/drawing/2014/main" id="{F65DA0DE-E03D-4C8B-9954-A8D440E6DFFD}"/>
              </a:ext>
            </a:extLst>
          </p:cNvPr>
          <p:cNvSpPr/>
          <p:nvPr/>
        </p:nvSpPr>
        <p:spPr>
          <a:xfrm>
            <a:off x="1149000" y="1584557"/>
            <a:ext cx="2135740" cy="2135740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128CF699-FF69-4C6C-B922-19F3FB991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774" y="205504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3AFE34-6556-4E79-AF1F-0E86DB2A2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828" y="722870"/>
            <a:ext cx="2269534" cy="2551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0010FB-AC96-46CF-A900-3A79FFD4B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170" y="3429000"/>
            <a:ext cx="3574849" cy="298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1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773579" y="3785004"/>
            <a:ext cx="5143474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dirty="0">
                <a:latin typeface="+mj-lt"/>
              </a:rPr>
              <a:t>OWASP Zed Attack Proxy HUD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535FBE3-3CEA-48E1-9A73-21021F8C8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579" y="1568469"/>
            <a:ext cx="1991395" cy="1991395"/>
          </a:xfrm>
          <a:custGeom>
            <a:avLst/>
            <a:gdLst>
              <a:gd name="connsiteX0" fmla="*/ 2165350 w 4330700"/>
              <a:gd name="connsiteY0" fmla="*/ 0 h 4330700"/>
              <a:gd name="connsiteX1" fmla="*/ 4330700 w 4330700"/>
              <a:gd name="connsiteY1" fmla="*/ 2165350 h 4330700"/>
              <a:gd name="connsiteX2" fmla="*/ 2165350 w 4330700"/>
              <a:gd name="connsiteY2" fmla="*/ 4330700 h 4330700"/>
              <a:gd name="connsiteX3" fmla="*/ 0 w 4330700"/>
              <a:gd name="connsiteY3" fmla="*/ 216535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4330700">
                <a:moveTo>
                  <a:pt x="2165350" y="0"/>
                </a:moveTo>
                <a:lnTo>
                  <a:pt x="4330700" y="2165350"/>
                </a:lnTo>
                <a:lnTo>
                  <a:pt x="2165350" y="4330700"/>
                </a:lnTo>
                <a:lnTo>
                  <a:pt x="0" y="2165350"/>
                </a:lnTo>
                <a:close/>
              </a:path>
            </a:pathLst>
          </a:cu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AFA2DF01-8A41-421C-A104-B7A68F2371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8767" y="1568469"/>
            <a:ext cx="1991395" cy="1991395"/>
          </a:xfrm>
          <a:custGeom>
            <a:avLst/>
            <a:gdLst>
              <a:gd name="connsiteX0" fmla="*/ 2165350 w 4330700"/>
              <a:gd name="connsiteY0" fmla="*/ 0 h 4330700"/>
              <a:gd name="connsiteX1" fmla="*/ 4330700 w 4330700"/>
              <a:gd name="connsiteY1" fmla="*/ 2165350 h 4330700"/>
              <a:gd name="connsiteX2" fmla="*/ 2165350 w 4330700"/>
              <a:gd name="connsiteY2" fmla="*/ 4330700 h 4330700"/>
              <a:gd name="connsiteX3" fmla="*/ 0 w 4330700"/>
              <a:gd name="connsiteY3" fmla="*/ 216535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4330700">
                <a:moveTo>
                  <a:pt x="2165350" y="0"/>
                </a:moveTo>
                <a:lnTo>
                  <a:pt x="4330700" y="2165350"/>
                </a:lnTo>
                <a:lnTo>
                  <a:pt x="2165350" y="4330700"/>
                </a:lnTo>
                <a:lnTo>
                  <a:pt x="0" y="2165350"/>
                </a:lnTo>
                <a:close/>
              </a:path>
            </a:pathLst>
          </a:custGeom>
        </p:spPr>
      </p:pic>
      <p:sp>
        <p:nvSpPr>
          <p:cNvPr id="124" name="Diamond 123">
            <a:extLst>
              <a:ext uri="{FF2B5EF4-FFF2-40B4-BE49-F238E27FC236}">
                <a16:creationId xmlns:a16="http://schemas.microsoft.com/office/drawing/2014/main" id="{F65DA0DE-E03D-4C8B-9954-A8D440E6DFFD}"/>
              </a:ext>
            </a:extLst>
          </p:cNvPr>
          <p:cNvSpPr/>
          <p:nvPr/>
        </p:nvSpPr>
        <p:spPr>
          <a:xfrm>
            <a:off x="1149000" y="1584557"/>
            <a:ext cx="2135740" cy="2135740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128CF699-FF69-4C6C-B922-19F3FB991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774" y="205504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DC9CA3D-1119-41B3-B2B1-0C936956FA8F}"/>
              </a:ext>
            </a:extLst>
          </p:cNvPr>
          <p:cNvGrpSpPr/>
          <p:nvPr/>
        </p:nvGrpSpPr>
        <p:grpSpPr>
          <a:xfrm>
            <a:off x="6500065" y="2475314"/>
            <a:ext cx="5001650" cy="492443"/>
            <a:chOff x="2562895" y="1897663"/>
            <a:chExt cx="5001650" cy="492443"/>
          </a:xfrm>
        </p:grpSpPr>
        <p:sp>
          <p:nvSpPr>
            <p:cNvPr id="16" name="Freeform 4460">
              <a:extLst>
                <a:ext uri="{FF2B5EF4-FFF2-40B4-BE49-F238E27FC236}">
                  <a16:creationId xmlns:a16="http://schemas.microsoft.com/office/drawing/2014/main" id="{3450F819-D899-44EC-AF9D-4AEA70E7A6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CB1E1A-1EAB-47C1-BC2D-81F3E2FEB68C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Crawls and scans the web application as you navigate through it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F4A62C-05CC-4CC3-AC88-494D9E71CAB0}"/>
              </a:ext>
            </a:extLst>
          </p:cNvPr>
          <p:cNvGrpSpPr/>
          <p:nvPr/>
        </p:nvGrpSpPr>
        <p:grpSpPr>
          <a:xfrm>
            <a:off x="6500065" y="3748817"/>
            <a:ext cx="5001650" cy="492443"/>
            <a:chOff x="2562895" y="1897663"/>
            <a:chExt cx="5001650" cy="492443"/>
          </a:xfrm>
        </p:grpSpPr>
        <p:sp>
          <p:nvSpPr>
            <p:cNvPr id="19" name="Freeform 4460">
              <a:extLst>
                <a:ext uri="{FF2B5EF4-FFF2-40B4-BE49-F238E27FC236}">
                  <a16:creationId xmlns:a16="http://schemas.microsoft.com/office/drawing/2014/main" id="{3CED8E05-C787-412D-8ACB-1A957266B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06E65C-6A96-4C04-A7A0-9C1D2E7D565A}"/>
                </a:ext>
              </a:extLst>
            </p:cNvPr>
            <p:cNvSpPr txBox="1"/>
            <p:nvPr/>
          </p:nvSpPr>
          <p:spPr>
            <a:xfrm>
              <a:off x="3129915" y="1897663"/>
              <a:ext cx="443463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All scan data is saved in a ZAP session and can be revisited later (for exporting, report generation, etc.)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74E3F6-D889-43C1-83DC-9ADA4A099129}"/>
              </a:ext>
            </a:extLst>
          </p:cNvPr>
          <p:cNvGrpSpPr/>
          <p:nvPr/>
        </p:nvGrpSpPr>
        <p:grpSpPr>
          <a:xfrm>
            <a:off x="6500065" y="5194946"/>
            <a:ext cx="5001650" cy="738664"/>
            <a:chOff x="2562895" y="1897663"/>
            <a:chExt cx="5001650" cy="738664"/>
          </a:xfrm>
        </p:grpSpPr>
        <p:sp>
          <p:nvSpPr>
            <p:cNvPr id="22" name="Freeform 4460">
              <a:extLst>
                <a:ext uri="{FF2B5EF4-FFF2-40B4-BE49-F238E27FC236}">
                  <a16:creationId xmlns:a16="http://schemas.microsoft.com/office/drawing/2014/main" id="{ABA71442-B3E9-4618-8810-D457B0A705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672487-4B4C-4B71-A8EC-FA1994BC7E40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Fairly unobtrusive user interface so it does not interfere with the view of the application; can also be disabled temporarily so it does not show up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4C87EE5-820D-486E-BE0C-9536CF42D995}"/>
              </a:ext>
            </a:extLst>
          </p:cNvPr>
          <p:cNvSpPr txBox="1"/>
          <p:nvPr/>
        </p:nvSpPr>
        <p:spPr>
          <a:xfrm>
            <a:off x="7067084" y="955590"/>
            <a:ext cx="443463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Provides the functionality of ZAP directly on the browser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A0E2C1-6E0A-44F5-9739-1D80AAA3F054}"/>
              </a:ext>
            </a:extLst>
          </p:cNvPr>
          <p:cNvGrpSpPr/>
          <p:nvPr/>
        </p:nvGrpSpPr>
        <p:grpSpPr>
          <a:xfrm>
            <a:off x="6500065" y="1025199"/>
            <a:ext cx="355600" cy="355600"/>
            <a:chOff x="907856" y="1936892"/>
            <a:chExt cx="355600" cy="355600"/>
          </a:xfrm>
        </p:grpSpPr>
        <p:sp>
          <p:nvSpPr>
            <p:cNvPr id="26" name="Freeform 4460">
              <a:extLst>
                <a:ext uri="{FF2B5EF4-FFF2-40B4-BE49-F238E27FC236}">
                  <a16:creationId xmlns:a16="http://schemas.microsoft.com/office/drawing/2014/main" id="{8C179E16-E6B6-42F3-BD10-14844178C5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B6DE41A-E3F8-4378-AAA5-E47ED4A04114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95B81D-4EAB-476F-90D5-4908FB06B4E9}"/>
              </a:ext>
            </a:extLst>
          </p:cNvPr>
          <p:cNvGrpSpPr/>
          <p:nvPr/>
        </p:nvGrpSpPr>
        <p:grpSpPr>
          <a:xfrm>
            <a:off x="6500065" y="2544775"/>
            <a:ext cx="355600" cy="355600"/>
            <a:chOff x="907856" y="1936892"/>
            <a:chExt cx="355600" cy="355600"/>
          </a:xfrm>
        </p:grpSpPr>
        <p:sp>
          <p:nvSpPr>
            <p:cNvPr id="29" name="Freeform 4460">
              <a:extLst>
                <a:ext uri="{FF2B5EF4-FFF2-40B4-BE49-F238E27FC236}">
                  <a16:creationId xmlns:a16="http://schemas.microsoft.com/office/drawing/2014/main" id="{EFDBF62F-5A8F-4B76-A865-09D46CE57E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C666026-E12D-476B-BC64-E1644EDE1F9F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D35A435-AEA2-4936-89F0-6846CDB77141}"/>
              </a:ext>
            </a:extLst>
          </p:cNvPr>
          <p:cNvGrpSpPr/>
          <p:nvPr/>
        </p:nvGrpSpPr>
        <p:grpSpPr>
          <a:xfrm>
            <a:off x="6500065" y="3823856"/>
            <a:ext cx="355600" cy="355600"/>
            <a:chOff x="907856" y="1936892"/>
            <a:chExt cx="355600" cy="355600"/>
          </a:xfrm>
        </p:grpSpPr>
        <p:sp>
          <p:nvSpPr>
            <p:cNvPr id="32" name="Freeform 4460">
              <a:extLst>
                <a:ext uri="{FF2B5EF4-FFF2-40B4-BE49-F238E27FC236}">
                  <a16:creationId xmlns:a16="http://schemas.microsoft.com/office/drawing/2014/main" id="{B0E0972B-CBB3-4B5B-9E10-2A742EDE52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EB0DEB9-3B21-47CE-BCE0-29583FA6C161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59EBCF-5739-41CB-B081-739DD5D62D2C}"/>
              </a:ext>
            </a:extLst>
          </p:cNvPr>
          <p:cNvGrpSpPr/>
          <p:nvPr/>
        </p:nvGrpSpPr>
        <p:grpSpPr>
          <a:xfrm>
            <a:off x="6500065" y="5259125"/>
            <a:ext cx="355600" cy="355600"/>
            <a:chOff x="907856" y="1936892"/>
            <a:chExt cx="355600" cy="355600"/>
          </a:xfrm>
        </p:grpSpPr>
        <p:sp>
          <p:nvSpPr>
            <p:cNvPr id="35" name="Freeform 4460">
              <a:extLst>
                <a:ext uri="{FF2B5EF4-FFF2-40B4-BE49-F238E27FC236}">
                  <a16:creationId xmlns:a16="http://schemas.microsoft.com/office/drawing/2014/main" id="{75587A93-5093-4157-9BF7-766A7B41B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0CE39B6-1F95-4E16-96F5-1EB1B3156892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B58AB5B-5DE1-4411-9DC5-EE6941BF5D3E}"/>
              </a:ext>
            </a:extLst>
          </p:cNvPr>
          <p:cNvCxnSpPr/>
          <p:nvPr/>
        </p:nvCxnSpPr>
        <p:spPr>
          <a:xfrm>
            <a:off x="6360011" y="3429001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2AFF85-E38E-405D-B092-CD9B22B3D0B8}"/>
              </a:ext>
            </a:extLst>
          </p:cNvPr>
          <p:cNvCxnSpPr/>
          <p:nvPr/>
        </p:nvCxnSpPr>
        <p:spPr>
          <a:xfrm>
            <a:off x="6360011" y="4820048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90C4DAB-E9E7-4566-BC90-9096199A7838}"/>
              </a:ext>
            </a:extLst>
          </p:cNvPr>
          <p:cNvCxnSpPr/>
          <p:nvPr/>
        </p:nvCxnSpPr>
        <p:spPr>
          <a:xfrm>
            <a:off x="6360011" y="2018360"/>
            <a:ext cx="4912459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4677E3D-DCFE-4D08-93FB-A38B17652D63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+mj-lt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199068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46C1D3CA-8346-4A52-9A77-339A2297AF8E}"/>
              </a:ext>
            </a:extLst>
          </p:cNvPr>
          <p:cNvSpPr/>
          <p:nvPr/>
        </p:nvSpPr>
        <p:spPr>
          <a:xfrm>
            <a:off x="7027946" y="3022431"/>
            <a:ext cx="3924300" cy="1485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Hexagon 76">
            <a:extLst>
              <a:ext uri="{FF2B5EF4-FFF2-40B4-BE49-F238E27FC236}">
                <a16:creationId xmlns:a16="http://schemas.microsoft.com/office/drawing/2014/main" id="{0C7A1945-1896-4E79-A0B2-5DDDE5CAB36F}"/>
              </a:ext>
            </a:extLst>
          </p:cNvPr>
          <p:cNvSpPr/>
          <p:nvPr/>
        </p:nvSpPr>
        <p:spPr>
          <a:xfrm rot="5400000">
            <a:off x="6129228" y="2988028"/>
            <a:ext cx="1797939" cy="1549947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060F3B-199C-43C9-AD84-1D56C6573CD5}"/>
              </a:ext>
            </a:extLst>
          </p:cNvPr>
          <p:cNvSpPr/>
          <p:nvPr/>
        </p:nvSpPr>
        <p:spPr>
          <a:xfrm>
            <a:off x="1222223" y="3022473"/>
            <a:ext cx="3924300" cy="1485900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B4A33607-3018-4DEB-9DBB-D9CB52F5F3B5}"/>
              </a:ext>
            </a:extLst>
          </p:cNvPr>
          <p:cNvSpPr/>
          <p:nvPr/>
        </p:nvSpPr>
        <p:spPr>
          <a:xfrm rot="5400000">
            <a:off x="4243405" y="2988878"/>
            <a:ext cx="1797939" cy="154994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181093-D069-46E3-8EFA-D4EF1E61AB7F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+mj-lt"/>
              </a:rPr>
              <a:t>Pros and Cons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3E2F68-FAAD-4B9C-AA3E-5D2EEC51B29B}"/>
              </a:ext>
            </a:extLst>
          </p:cNvPr>
          <p:cNvCxnSpPr>
            <a:cxnSpLocks/>
          </p:cNvCxnSpPr>
          <p:nvPr/>
        </p:nvCxnSpPr>
        <p:spPr>
          <a:xfrm>
            <a:off x="10952246" y="3763768"/>
            <a:ext cx="1239754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0862BA-9008-433E-B10B-B6FD8FAA5D54}"/>
              </a:ext>
            </a:extLst>
          </p:cNvPr>
          <p:cNvCxnSpPr>
            <a:cxnSpLocks/>
          </p:cNvCxnSpPr>
          <p:nvPr/>
        </p:nvCxnSpPr>
        <p:spPr>
          <a:xfrm>
            <a:off x="0" y="2428969"/>
            <a:ext cx="7594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6332" y="5949823"/>
            <a:ext cx="2743200" cy="365125"/>
          </a:xfrm>
        </p:spPr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49823"/>
            <a:ext cx="2743200" cy="365125"/>
          </a:xfrm>
        </p:spPr>
        <p:txBody>
          <a:bodyPr/>
          <a:lstStyle/>
          <a:p>
            <a:fld id="{8104C915-17D6-486A-86EC-048CBE10C825}" type="slidenum">
              <a:rPr lang="en-US" smtClean="0"/>
              <a:t>6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DBC07A-EA98-4A2F-A57B-BA484D4DDF83}"/>
              </a:ext>
            </a:extLst>
          </p:cNvPr>
          <p:cNvSpPr txBox="1"/>
          <p:nvPr/>
        </p:nvSpPr>
        <p:spPr>
          <a:xfrm>
            <a:off x="4451626" y="3640658"/>
            <a:ext cx="138112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OPEN-SOURCE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9E2545-C800-42F2-8883-1551D5867FD4}"/>
              </a:ext>
            </a:extLst>
          </p:cNvPr>
          <p:cNvSpPr txBox="1"/>
          <p:nvPr/>
        </p:nvSpPr>
        <p:spPr>
          <a:xfrm>
            <a:off x="6337384" y="3517547"/>
            <a:ext cx="138112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HUD CODE MATURITY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558ABB-20CF-4D34-A76B-DE8D7E617DFE}"/>
              </a:ext>
            </a:extLst>
          </p:cNvPr>
          <p:cNvGrpSpPr/>
          <p:nvPr/>
        </p:nvGrpSpPr>
        <p:grpSpPr>
          <a:xfrm>
            <a:off x="737607" y="1123473"/>
            <a:ext cx="4699274" cy="1797939"/>
            <a:chOff x="1631076" y="1530000"/>
            <a:chExt cx="4699274" cy="17979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960659-3872-4C3D-925F-8A285B96802C}"/>
                </a:ext>
              </a:extLst>
            </p:cNvPr>
            <p:cNvSpPr/>
            <p:nvPr/>
          </p:nvSpPr>
          <p:spPr>
            <a:xfrm>
              <a:off x="1631076" y="1686019"/>
              <a:ext cx="3924300" cy="148590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14A31980-B7C1-4F5C-98A5-A737A70C0F1E}"/>
                </a:ext>
              </a:extLst>
            </p:cNvPr>
            <p:cNvSpPr/>
            <p:nvPr/>
          </p:nvSpPr>
          <p:spPr>
            <a:xfrm rot="5400000">
              <a:off x="4656407" y="1653996"/>
              <a:ext cx="1797939" cy="1549947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FCF660-37B8-45A0-9C79-E1A032B692ED}"/>
                </a:ext>
              </a:extLst>
            </p:cNvPr>
            <p:cNvSpPr txBox="1"/>
            <p:nvPr/>
          </p:nvSpPr>
          <p:spPr>
            <a:xfrm>
              <a:off x="4864814" y="2305858"/>
              <a:ext cx="138112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EASE OF USE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254475-4444-40C2-B388-DFE3D149C54D}"/>
              </a:ext>
            </a:extLst>
          </p:cNvPr>
          <p:cNvGrpSpPr/>
          <p:nvPr/>
        </p:nvGrpSpPr>
        <p:grpSpPr>
          <a:xfrm>
            <a:off x="6755121" y="1123473"/>
            <a:ext cx="4677405" cy="1797939"/>
            <a:chOff x="7070890" y="1220291"/>
            <a:chExt cx="4677405" cy="17979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26F98C-E45D-45D9-9EDE-770CA5A7CC79}"/>
                </a:ext>
              </a:extLst>
            </p:cNvPr>
            <p:cNvSpPr/>
            <p:nvPr/>
          </p:nvSpPr>
          <p:spPr>
            <a:xfrm>
              <a:off x="7823995" y="1376310"/>
              <a:ext cx="3924300" cy="14859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5E915237-C0F2-4972-8B99-04DF521424D8}"/>
                </a:ext>
              </a:extLst>
            </p:cNvPr>
            <p:cNvSpPr/>
            <p:nvPr/>
          </p:nvSpPr>
          <p:spPr>
            <a:xfrm rot="5400000">
              <a:off x="6946894" y="1344287"/>
              <a:ext cx="1797939" cy="1549947"/>
            </a:xfrm>
            <a:prstGeom prst="hexagon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836FC8-60DF-4BD2-B7DB-501ECB9AA790}"/>
                </a:ext>
              </a:extLst>
            </p:cNvPr>
            <p:cNvSpPr txBox="1"/>
            <p:nvPr/>
          </p:nvSpPr>
          <p:spPr>
            <a:xfrm>
              <a:off x="7155300" y="1873038"/>
              <a:ext cx="1381125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LIMITED FUNCTIONALITY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577094A-3F01-4AA7-A62C-5314274A6423}"/>
              </a:ext>
            </a:extLst>
          </p:cNvPr>
          <p:cNvSpPr txBox="1"/>
          <p:nvPr/>
        </p:nvSpPr>
        <p:spPr>
          <a:xfrm>
            <a:off x="895887" y="1653112"/>
            <a:ext cx="283276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Setup and use of  ZAP HUD is very easy and even comes with a comprehensive tutorial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5DFFE6-BE30-4FF5-8218-87BC2BB276A6}"/>
              </a:ext>
            </a:extLst>
          </p:cNvPr>
          <p:cNvSpPr txBox="1"/>
          <p:nvPr/>
        </p:nvSpPr>
        <p:spPr>
          <a:xfrm>
            <a:off x="1377478" y="3394436"/>
            <a:ext cx="283276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is completely free to download and use under the Apache License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80DF5D-9A47-4A1D-943D-3BF984E75A48}"/>
              </a:ext>
            </a:extLst>
          </p:cNvPr>
          <p:cNvSpPr txBox="1"/>
          <p:nvPr/>
        </p:nvSpPr>
        <p:spPr>
          <a:xfrm>
            <a:off x="8441479" y="1530001"/>
            <a:ext cx="2832767" cy="9848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as fully-featured as the ZAP scanner or other scanning applications (BURP Suite,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WebInspect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AppSpider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F470A-B12D-4BF1-93E3-CC17AA0F3992}"/>
              </a:ext>
            </a:extLst>
          </p:cNvPr>
          <p:cNvSpPr txBox="1"/>
          <p:nvPr/>
        </p:nvSpPr>
        <p:spPr>
          <a:xfrm>
            <a:off x="7948258" y="3271326"/>
            <a:ext cx="2832767" cy="9848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Plenty of known issues and bugs to be fixed; tested mostly on Firefox but should work on Chrome as well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9B0DBA-C95B-4473-832D-D2F875FEE51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1432526" y="2022442"/>
            <a:ext cx="7594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44C9C0B-067D-4F3A-9315-805779B7F0DB}"/>
              </a:ext>
            </a:extLst>
          </p:cNvPr>
          <p:cNvCxnSpPr>
            <a:cxnSpLocks/>
          </p:cNvCxnSpPr>
          <p:nvPr/>
        </p:nvCxnSpPr>
        <p:spPr>
          <a:xfrm>
            <a:off x="0" y="4170295"/>
            <a:ext cx="1239756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9573702-33A9-4632-80E4-51885F0E877E}"/>
              </a:ext>
            </a:extLst>
          </p:cNvPr>
          <p:cNvGrpSpPr/>
          <p:nvPr/>
        </p:nvGrpSpPr>
        <p:grpSpPr>
          <a:xfrm>
            <a:off x="737607" y="4600591"/>
            <a:ext cx="4699273" cy="1797939"/>
            <a:chOff x="1631076" y="1517300"/>
            <a:chExt cx="4699273" cy="1797939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2C43E22-882B-4C0C-9007-3A93E009F869}"/>
                </a:ext>
              </a:extLst>
            </p:cNvPr>
            <p:cNvSpPr/>
            <p:nvPr/>
          </p:nvSpPr>
          <p:spPr>
            <a:xfrm>
              <a:off x="1631076" y="1686019"/>
              <a:ext cx="3924300" cy="148590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2B67FB90-DBF1-4A79-9156-BA137E05741F}"/>
                </a:ext>
              </a:extLst>
            </p:cNvPr>
            <p:cNvSpPr/>
            <p:nvPr/>
          </p:nvSpPr>
          <p:spPr>
            <a:xfrm rot="5400000">
              <a:off x="4656406" y="1641296"/>
              <a:ext cx="1797939" cy="1549947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6943A3-1794-4291-959E-E5AAB8803373}"/>
                </a:ext>
              </a:extLst>
            </p:cNvPr>
            <p:cNvSpPr txBox="1"/>
            <p:nvPr/>
          </p:nvSpPr>
          <p:spPr>
            <a:xfrm>
              <a:off x="4864814" y="2182747"/>
              <a:ext cx="1381125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SMALL FOOTPRINT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E79A876-E294-41FB-A770-A38F1F67384C}"/>
              </a:ext>
            </a:extLst>
          </p:cNvPr>
          <p:cNvSpPr txBox="1"/>
          <p:nvPr/>
        </p:nvSpPr>
        <p:spPr>
          <a:xfrm>
            <a:off x="895887" y="5142929"/>
            <a:ext cx="283276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Minimal interface does not clutter the browser page while providing the core functionality of a scanner  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C800C32-DDDE-4602-B13A-2DA04231C34B}"/>
              </a:ext>
            </a:extLst>
          </p:cNvPr>
          <p:cNvGrpSpPr/>
          <p:nvPr/>
        </p:nvGrpSpPr>
        <p:grpSpPr>
          <a:xfrm>
            <a:off x="6749241" y="4662737"/>
            <a:ext cx="4677405" cy="1797939"/>
            <a:chOff x="7070890" y="1220291"/>
            <a:chExt cx="4677405" cy="179793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F2501E6-D142-4E43-BE12-A3445A4EDF98}"/>
                </a:ext>
              </a:extLst>
            </p:cNvPr>
            <p:cNvSpPr/>
            <p:nvPr/>
          </p:nvSpPr>
          <p:spPr>
            <a:xfrm>
              <a:off x="7823995" y="1376310"/>
              <a:ext cx="3924300" cy="14859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DE5ACDFC-C5BB-4AEE-96A4-776C817DDF24}"/>
                </a:ext>
              </a:extLst>
            </p:cNvPr>
            <p:cNvSpPr/>
            <p:nvPr/>
          </p:nvSpPr>
          <p:spPr>
            <a:xfrm rot="5400000">
              <a:off x="6946894" y="1344287"/>
              <a:ext cx="1797939" cy="1549947"/>
            </a:xfrm>
            <a:prstGeom prst="hexagon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65D2E09-B908-46F4-9973-3E34F3762AF9}"/>
                </a:ext>
              </a:extLst>
            </p:cNvPr>
            <p:cNvSpPr txBox="1"/>
            <p:nvPr/>
          </p:nvSpPr>
          <p:spPr>
            <a:xfrm>
              <a:off x="7155300" y="1873038"/>
              <a:ext cx="1381125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SCANNING ACCURACY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68879D4-C694-49CC-A1AD-6561654C90E2}"/>
              </a:ext>
            </a:extLst>
          </p:cNvPr>
          <p:cNvSpPr txBox="1"/>
          <p:nvPr/>
        </p:nvSpPr>
        <p:spPr>
          <a:xfrm>
            <a:off x="8441478" y="5069264"/>
            <a:ext cx="2832767" cy="9848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Scanning and performance is not up to par like other web application scanners (BURP,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WebInspect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AppSpider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CA365C3-AF71-44C5-8A1F-66A33CA697BC}"/>
              </a:ext>
            </a:extLst>
          </p:cNvPr>
          <p:cNvCxnSpPr>
            <a:cxnSpLocks/>
          </p:cNvCxnSpPr>
          <p:nvPr/>
        </p:nvCxnSpPr>
        <p:spPr>
          <a:xfrm>
            <a:off x="-21868" y="5880560"/>
            <a:ext cx="7594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D3F6A6C-29C7-491C-9C23-FC95F8EBD18E}"/>
              </a:ext>
            </a:extLst>
          </p:cNvPr>
          <p:cNvCxnSpPr>
            <a:cxnSpLocks/>
          </p:cNvCxnSpPr>
          <p:nvPr/>
        </p:nvCxnSpPr>
        <p:spPr>
          <a:xfrm>
            <a:off x="11420832" y="5880560"/>
            <a:ext cx="75947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62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7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ED3ED2-BE34-4603-A4CC-3F470F93BCA1}"/>
              </a:ext>
            </a:extLst>
          </p:cNvPr>
          <p:cNvGrpSpPr/>
          <p:nvPr/>
        </p:nvGrpSpPr>
        <p:grpSpPr>
          <a:xfrm>
            <a:off x="4355306" y="2012156"/>
            <a:ext cx="3481388" cy="2833688"/>
            <a:chOff x="4353371" y="2797175"/>
            <a:chExt cx="3481388" cy="2833688"/>
          </a:xfrm>
        </p:grpSpPr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5D1F1FAE-87B5-4561-80AF-C8D767306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9233" y="5208588"/>
              <a:ext cx="1166813" cy="422275"/>
            </a:xfrm>
            <a:custGeom>
              <a:avLst/>
              <a:gdLst>
                <a:gd name="T0" fmla="*/ 0 w 653"/>
                <a:gd name="T1" fmla="*/ 236 h 236"/>
                <a:gd name="T2" fmla="*/ 24 w 653"/>
                <a:gd name="T3" fmla="*/ 209 h 236"/>
                <a:gd name="T4" fmla="*/ 77 w 653"/>
                <a:gd name="T5" fmla="*/ 202 h 236"/>
                <a:gd name="T6" fmla="*/ 130 w 653"/>
                <a:gd name="T7" fmla="*/ 0 h 236"/>
                <a:gd name="T8" fmla="*/ 523 w 653"/>
                <a:gd name="T9" fmla="*/ 0 h 236"/>
                <a:gd name="T10" fmla="*/ 576 w 653"/>
                <a:gd name="T11" fmla="*/ 202 h 236"/>
                <a:gd name="T12" fmla="*/ 629 w 653"/>
                <a:gd name="T13" fmla="*/ 209 h 236"/>
                <a:gd name="T14" fmla="*/ 653 w 653"/>
                <a:gd name="T15" fmla="*/ 236 h 236"/>
                <a:gd name="T16" fmla="*/ 0 w 653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3" h="236">
                  <a:moveTo>
                    <a:pt x="0" y="236"/>
                  </a:moveTo>
                  <a:cubicBezTo>
                    <a:pt x="0" y="222"/>
                    <a:pt x="10" y="210"/>
                    <a:pt x="24" y="209"/>
                  </a:cubicBezTo>
                  <a:cubicBezTo>
                    <a:pt x="77" y="202"/>
                    <a:pt x="77" y="202"/>
                    <a:pt x="77" y="202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523" y="0"/>
                    <a:pt x="523" y="0"/>
                    <a:pt x="523" y="0"/>
                  </a:cubicBezTo>
                  <a:cubicBezTo>
                    <a:pt x="576" y="202"/>
                    <a:pt x="576" y="202"/>
                    <a:pt x="576" y="202"/>
                  </a:cubicBezTo>
                  <a:cubicBezTo>
                    <a:pt x="629" y="209"/>
                    <a:pt x="629" y="209"/>
                    <a:pt x="629" y="209"/>
                  </a:cubicBezTo>
                  <a:cubicBezTo>
                    <a:pt x="642" y="210"/>
                    <a:pt x="653" y="222"/>
                    <a:pt x="653" y="236"/>
                  </a:cubicBezTo>
                  <a:lnTo>
                    <a:pt x="0" y="23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52C77C7D-F509-4AA1-8B58-1EDF6BCE3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5133" y="5208588"/>
              <a:ext cx="735013" cy="60325"/>
            </a:xfrm>
            <a:custGeom>
              <a:avLst/>
              <a:gdLst>
                <a:gd name="T0" fmla="*/ 0 w 463"/>
                <a:gd name="T1" fmla="*/ 38 h 38"/>
                <a:gd name="T2" fmla="*/ 10 w 463"/>
                <a:gd name="T3" fmla="*/ 0 h 38"/>
                <a:gd name="T4" fmla="*/ 453 w 463"/>
                <a:gd name="T5" fmla="*/ 0 h 38"/>
                <a:gd name="T6" fmla="*/ 463 w 463"/>
                <a:gd name="T7" fmla="*/ 38 h 38"/>
                <a:gd name="T8" fmla="*/ 0 w 463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38">
                  <a:moveTo>
                    <a:pt x="0" y="38"/>
                  </a:moveTo>
                  <a:lnTo>
                    <a:pt x="10" y="0"/>
                  </a:lnTo>
                  <a:lnTo>
                    <a:pt x="453" y="0"/>
                  </a:lnTo>
                  <a:lnTo>
                    <a:pt x="463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5AC03838-F6BF-4F32-A927-67CFE9F14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371" y="2797175"/>
              <a:ext cx="3481388" cy="2109787"/>
            </a:xfrm>
            <a:custGeom>
              <a:avLst/>
              <a:gdLst>
                <a:gd name="T0" fmla="*/ 0 w 1948"/>
                <a:gd name="T1" fmla="*/ 1180 h 1180"/>
                <a:gd name="T2" fmla="*/ 0 w 1948"/>
                <a:gd name="T3" fmla="*/ 44 h 1180"/>
                <a:gd name="T4" fmla="*/ 44 w 1948"/>
                <a:gd name="T5" fmla="*/ 0 h 1180"/>
                <a:gd name="T6" fmla="*/ 1904 w 1948"/>
                <a:gd name="T7" fmla="*/ 0 h 1180"/>
                <a:gd name="T8" fmla="*/ 1948 w 1948"/>
                <a:gd name="T9" fmla="*/ 44 h 1180"/>
                <a:gd name="T10" fmla="*/ 1948 w 1948"/>
                <a:gd name="T11" fmla="*/ 1180 h 1180"/>
                <a:gd name="T12" fmla="*/ 0 w 1948"/>
                <a:gd name="T13" fmla="*/ 118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8" h="1180">
                  <a:moveTo>
                    <a:pt x="0" y="118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1904" y="0"/>
                    <a:pt x="1904" y="0"/>
                    <a:pt x="1904" y="0"/>
                  </a:cubicBezTo>
                  <a:cubicBezTo>
                    <a:pt x="1928" y="0"/>
                    <a:pt x="1948" y="20"/>
                    <a:pt x="1948" y="44"/>
                  </a:cubicBezTo>
                  <a:cubicBezTo>
                    <a:pt x="1948" y="1180"/>
                    <a:pt x="1948" y="1180"/>
                    <a:pt x="1948" y="1180"/>
                  </a:cubicBezTo>
                  <a:lnTo>
                    <a:pt x="0" y="1180"/>
                  </a:lnTo>
                  <a:close/>
                </a:path>
              </a:pathLst>
            </a:custGeom>
            <a:solidFill>
              <a:srgbClr val="2D2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CF4F52F-FFFB-4331-A91E-D4B6E8B58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371" y="4906963"/>
              <a:ext cx="3481388" cy="312737"/>
            </a:xfrm>
            <a:custGeom>
              <a:avLst/>
              <a:gdLst>
                <a:gd name="T0" fmla="*/ 1904 w 1948"/>
                <a:gd name="T1" fmla="*/ 175 h 175"/>
                <a:gd name="T2" fmla="*/ 44 w 1948"/>
                <a:gd name="T3" fmla="*/ 175 h 175"/>
                <a:gd name="T4" fmla="*/ 0 w 1948"/>
                <a:gd name="T5" fmla="*/ 131 h 175"/>
                <a:gd name="T6" fmla="*/ 0 w 1948"/>
                <a:gd name="T7" fmla="*/ 0 h 175"/>
                <a:gd name="T8" fmla="*/ 1948 w 1948"/>
                <a:gd name="T9" fmla="*/ 0 h 175"/>
                <a:gd name="T10" fmla="*/ 1948 w 1948"/>
                <a:gd name="T11" fmla="*/ 131 h 175"/>
                <a:gd name="T12" fmla="*/ 1904 w 1948"/>
                <a:gd name="T13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8" h="175">
                  <a:moveTo>
                    <a:pt x="1904" y="175"/>
                  </a:moveTo>
                  <a:cubicBezTo>
                    <a:pt x="44" y="175"/>
                    <a:pt x="44" y="175"/>
                    <a:pt x="44" y="175"/>
                  </a:cubicBezTo>
                  <a:cubicBezTo>
                    <a:pt x="20" y="175"/>
                    <a:pt x="0" y="156"/>
                    <a:pt x="0" y="1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48" y="0"/>
                    <a:pt x="1948" y="0"/>
                    <a:pt x="1948" y="0"/>
                  </a:cubicBezTo>
                  <a:cubicBezTo>
                    <a:pt x="1948" y="131"/>
                    <a:pt x="1948" y="131"/>
                    <a:pt x="1948" y="131"/>
                  </a:cubicBezTo>
                  <a:cubicBezTo>
                    <a:pt x="1948" y="156"/>
                    <a:pt x="1928" y="175"/>
                    <a:pt x="1904" y="175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0">
              <a:extLst>
                <a:ext uri="{FF2B5EF4-FFF2-40B4-BE49-F238E27FC236}">
                  <a16:creationId xmlns:a16="http://schemas.microsoft.com/office/drawing/2014/main" id="{83A0FA64-872A-4D30-AEB2-D61B3DF1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321" y="2935288"/>
              <a:ext cx="3263900" cy="18335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D8D212EF-3FB8-4740-93AF-A78B124B0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321" y="4606925"/>
              <a:ext cx="3263900" cy="161925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73C8D34-F1E5-4F15-BD2A-63116A6C3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583" y="2992438"/>
              <a:ext cx="1350963" cy="87312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41A6F95B-A68A-45D3-95BB-446C9F86D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3221" y="3108325"/>
              <a:ext cx="800100" cy="87312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4">
              <a:extLst>
                <a:ext uri="{FF2B5EF4-FFF2-40B4-BE49-F238E27FC236}">
                  <a16:creationId xmlns:a16="http://schemas.microsoft.com/office/drawing/2014/main" id="{57E79C71-F397-4D46-BBE6-D15450342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758" y="3848100"/>
              <a:ext cx="411163" cy="679450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25">
              <a:extLst>
                <a:ext uri="{FF2B5EF4-FFF2-40B4-BE49-F238E27FC236}">
                  <a16:creationId xmlns:a16="http://schemas.microsoft.com/office/drawing/2014/main" id="{7A9062FE-3007-4E81-914B-E231BD9D8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283" y="3276600"/>
              <a:ext cx="1408113" cy="52228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00CADF41-D949-4A48-84A3-FC1D8A3E2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4558" y="3489325"/>
              <a:ext cx="42863" cy="93662"/>
            </a:xfrm>
            <a:custGeom>
              <a:avLst/>
              <a:gdLst>
                <a:gd name="T0" fmla="*/ 1 w 24"/>
                <a:gd name="T1" fmla="*/ 6 h 53"/>
                <a:gd name="T2" fmla="*/ 2 w 24"/>
                <a:gd name="T3" fmla="*/ 2 h 53"/>
                <a:gd name="T4" fmla="*/ 6 w 24"/>
                <a:gd name="T5" fmla="*/ 2 h 53"/>
                <a:gd name="T6" fmla="*/ 23 w 24"/>
                <a:gd name="T7" fmla="*/ 25 h 53"/>
                <a:gd name="T8" fmla="*/ 24 w 24"/>
                <a:gd name="T9" fmla="*/ 25 h 53"/>
                <a:gd name="T10" fmla="*/ 24 w 24"/>
                <a:gd name="T11" fmla="*/ 25 h 53"/>
                <a:gd name="T12" fmla="*/ 24 w 24"/>
                <a:gd name="T13" fmla="*/ 25 h 53"/>
                <a:gd name="T14" fmla="*/ 24 w 24"/>
                <a:gd name="T15" fmla="*/ 25 h 53"/>
                <a:gd name="T16" fmla="*/ 24 w 24"/>
                <a:gd name="T17" fmla="*/ 26 h 53"/>
                <a:gd name="T18" fmla="*/ 24 w 24"/>
                <a:gd name="T19" fmla="*/ 26 h 53"/>
                <a:gd name="T20" fmla="*/ 24 w 24"/>
                <a:gd name="T21" fmla="*/ 26 h 53"/>
                <a:gd name="T22" fmla="*/ 24 w 24"/>
                <a:gd name="T23" fmla="*/ 26 h 53"/>
                <a:gd name="T24" fmla="*/ 24 w 24"/>
                <a:gd name="T25" fmla="*/ 26 h 53"/>
                <a:gd name="T26" fmla="*/ 24 w 24"/>
                <a:gd name="T27" fmla="*/ 27 h 53"/>
                <a:gd name="T28" fmla="*/ 24 w 24"/>
                <a:gd name="T29" fmla="*/ 27 h 53"/>
                <a:gd name="T30" fmla="*/ 24 w 24"/>
                <a:gd name="T31" fmla="*/ 27 h 53"/>
                <a:gd name="T32" fmla="*/ 24 w 24"/>
                <a:gd name="T33" fmla="*/ 27 h 53"/>
                <a:gd name="T34" fmla="*/ 24 w 24"/>
                <a:gd name="T35" fmla="*/ 27 h 53"/>
                <a:gd name="T36" fmla="*/ 24 w 24"/>
                <a:gd name="T37" fmla="*/ 27 h 53"/>
                <a:gd name="T38" fmla="*/ 24 w 24"/>
                <a:gd name="T39" fmla="*/ 27 h 53"/>
                <a:gd name="T40" fmla="*/ 24 w 24"/>
                <a:gd name="T41" fmla="*/ 27 h 53"/>
                <a:gd name="T42" fmla="*/ 24 w 24"/>
                <a:gd name="T43" fmla="*/ 27 h 53"/>
                <a:gd name="T44" fmla="*/ 24 w 24"/>
                <a:gd name="T45" fmla="*/ 27 h 53"/>
                <a:gd name="T46" fmla="*/ 24 w 24"/>
                <a:gd name="T47" fmla="*/ 28 h 53"/>
                <a:gd name="T48" fmla="*/ 24 w 24"/>
                <a:gd name="T49" fmla="*/ 28 h 53"/>
                <a:gd name="T50" fmla="*/ 24 w 24"/>
                <a:gd name="T51" fmla="*/ 28 h 53"/>
                <a:gd name="T52" fmla="*/ 24 w 24"/>
                <a:gd name="T53" fmla="*/ 28 h 53"/>
                <a:gd name="T54" fmla="*/ 24 w 24"/>
                <a:gd name="T55" fmla="*/ 28 h 53"/>
                <a:gd name="T56" fmla="*/ 24 w 24"/>
                <a:gd name="T57" fmla="*/ 29 h 53"/>
                <a:gd name="T58" fmla="*/ 24 w 24"/>
                <a:gd name="T59" fmla="*/ 29 h 53"/>
                <a:gd name="T60" fmla="*/ 24 w 24"/>
                <a:gd name="T61" fmla="*/ 29 h 53"/>
                <a:gd name="T62" fmla="*/ 24 w 24"/>
                <a:gd name="T63" fmla="*/ 29 h 53"/>
                <a:gd name="T64" fmla="*/ 23 w 24"/>
                <a:gd name="T65" fmla="*/ 29 h 53"/>
                <a:gd name="T66" fmla="*/ 6 w 24"/>
                <a:gd name="T67" fmla="*/ 52 h 53"/>
                <a:gd name="T68" fmla="*/ 2 w 24"/>
                <a:gd name="T69" fmla="*/ 52 h 53"/>
                <a:gd name="T70" fmla="*/ 1 w 24"/>
                <a:gd name="T71" fmla="*/ 48 h 53"/>
                <a:gd name="T72" fmla="*/ 17 w 24"/>
                <a:gd name="T73" fmla="*/ 27 h 53"/>
                <a:gd name="T74" fmla="*/ 1 w 24"/>
                <a:gd name="T75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" h="53">
                  <a:moveTo>
                    <a:pt x="1" y="6"/>
                  </a:moveTo>
                  <a:cubicBezTo>
                    <a:pt x="0" y="5"/>
                    <a:pt x="0" y="3"/>
                    <a:pt x="2" y="2"/>
                  </a:cubicBezTo>
                  <a:cubicBezTo>
                    <a:pt x="3" y="0"/>
                    <a:pt x="5" y="1"/>
                    <a:pt x="6" y="2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9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5" y="53"/>
                    <a:pt x="3" y="53"/>
                    <a:pt x="2" y="52"/>
                  </a:cubicBezTo>
                  <a:cubicBezTo>
                    <a:pt x="0" y="51"/>
                    <a:pt x="0" y="49"/>
                    <a:pt x="1" y="48"/>
                  </a:cubicBezTo>
                  <a:cubicBezTo>
                    <a:pt x="17" y="27"/>
                    <a:pt x="17" y="27"/>
                    <a:pt x="17" y="27"/>
                  </a:cubicBezTo>
                  <a:lnTo>
                    <a:pt x="1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6E074E8F-608A-4650-92BE-C8407A923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671" y="3489325"/>
              <a:ext cx="42863" cy="93662"/>
            </a:xfrm>
            <a:custGeom>
              <a:avLst/>
              <a:gdLst>
                <a:gd name="T0" fmla="*/ 17 w 24"/>
                <a:gd name="T1" fmla="*/ 2 h 53"/>
                <a:gd name="T2" fmla="*/ 22 w 24"/>
                <a:gd name="T3" fmla="*/ 2 h 53"/>
                <a:gd name="T4" fmla="*/ 23 w 24"/>
                <a:gd name="T5" fmla="*/ 6 h 53"/>
                <a:gd name="T6" fmla="*/ 7 w 24"/>
                <a:gd name="T7" fmla="*/ 27 h 53"/>
                <a:gd name="T8" fmla="*/ 23 w 24"/>
                <a:gd name="T9" fmla="*/ 48 h 53"/>
                <a:gd name="T10" fmla="*/ 22 w 24"/>
                <a:gd name="T11" fmla="*/ 52 h 53"/>
                <a:gd name="T12" fmla="*/ 17 w 24"/>
                <a:gd name="T13" fmla="*/ 52 h 53"/>
                <a:gd name="T14" fmla="*/ 0 w 24"/>
                <a:gd name="T15" fmla="*/ 29 h 53"/>
                <a:gd name="T16" fmla="*/ 0 w 24"/>
                <a:gd name="T17" fmla="*/ 29 h 53"/>
                <a:gd name="T18" fmla="*/ 0 w 24"/>
                <a:gd name="T19" fmla="*/ 29 h 53"/>
                <a:gd name="T20" fmla="*/ 0 w 24"/>
                <a:gd name="T21" fmla="*/ 29 h 53"/>
                <a:gd name="T22" fmla="*/ 0 w 24"/>
                <a:gd name="T23" fmla="*/ 29 h 53"/>
                <a:gd name="T24" fmla="*/ 0 w 24"/>
                <a:gd name="T25" fmla="*/ 28 h 53"/>
                <a:gd name="T26" fmla="*/ 0 w 24"/>
                <a:gd name="T27" fmla="*/ 28 h 53"/>
                <a:gd name="T28" fmla="*/ 0 w 24"/>
                <a:gd name="T29" fmla="*/ 28 h 53"/>
                <a:gd name="T30" fmla="*/ 0 w 24"/>
                <a:gd name="T31" fmla="*/ 28 h 53"/>
                <a:gd name="T32" fmla="*/ 0 w 24"/>
                <a:gd name="T33" fmla="*/ 28 h 53"/>
                <a:gd name="T34" fmla="*/ 0 w 24"/>
                <a:gd name="T35" fmla="*/ 27 h 53"/>
                <a:gd name="T36" fmla="*/ 0 w 24"/>
                <a:gd name="T37" fmla="*/ 27 h 53"/>
                <a:gd name="T38" fmla="*/ 0 w 24"/>
                <a:gd name="T39" fmla="*/ 27 h 53"/>
                <a:gd name="T40" fmla="*/ 0 w 24"/>
                <a:gd name="T41" fmla="*/ 27 h 53"/>
                <a:gd name="T42" fmla="*/ 0 w 24"/>
                <a:gd name="T43" fmla="*/ 27 h 53"/>
                <a:gd name="T44" fmla="*/ 0 w 24"/>
                <a:gd name="T45" fmla="*/ 27 h 53"/>
                <a:gd name="T46" fmla="*/ 0 w 24"/>
                <a:gd name="T47" fmla="*/ 27 h 53"/>
                <a:gd name="T48" fmla="*/ 0 w 24"/>
                <a:gd name="T49" fmla="*/ 27 h 53"/>
                <a:gd name="T50" fmla="*/ 0 w 24"/>
                <a:gd name="T51" fmla="*/ 27 h 53"/>
                <a:gd name="T52" fmla="*/ 0 w 24"/>
                <a:gd name="T53" fmla="*/ 27 h 53"/>
                <a:gd name="T54" fmla="*/ 0 w 24"/>
                <a:gd name="T55" fmla="*/ 26 h 53"/>
                <a:gd name="T56" fmla="*/ 0 w 24"/>
                <a:gd name="T57" fmla="*/ 26 h 53"/>
                <a:gd name="T58" fmla="*/ 0 w 24"/>
                <a:gd name="T59" fmla="*/ 26 h 53"/>
                <a:gd name="T60" fmla="*/ 0 w 24"/>
                <a:gd name="T61" fmla="*/ 26 h 53"/>
                <a:gd name="T62" fmla="*/ 0 w 24"/>
                <a:gd name="T63" fmla="*/ 26 h 53"/>
                <a:gd name="T64" fmla="*/ 0 w 24"/>
                <a:gd name="T65" fmla="*/ 25 h 53"/>
                <a:gd name="T66" fmla="*/ 0 w 24"/>
                <a:gd name="T67" fmla="*/ 25 h 53"/>
                <a:gd name="T68" fmla="*/ 0 w 24"/>
                <a:gd name="T69" fmla="*/ 25 h 53"/>
                <a:gd name="T70" fmla="*/ 0 w 24"/>
                <a:gd name="T71" fmla="*/ 25 h 53"/>
                <a:gd name="T72" fmla="*/ 0 w 24"/>
                <a:gd name="T73" fmla="*/ 25 h 53"/>
                <a:gd name="T74" fmla="*/ 17 w 24"/>
                <a:gd name="T75" fmla="*/ 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" h="53">
                  <a:moveTo>
                    <a:pt x="17" y="2"/>
                  </a:moveTo>
                  <a:cubicBezTo>
                    <a:pt x="18" y="1"/>
                    <a:pt x="21" y="0"/>
                    <a:pt x="22" y="2"/>
                  </a:cubicBezTo>
                  <a:cubicBezTo>
                    <a:pt x="24" y="3"/>
                    <a:pt x="24" y="5"/>
                    <a:pt x="23" y="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9"/>
                    <a:pt x="24" y="51"/>
                    <a:pt x="22" y="52"/>
                  </a:cubicBezTo>
                  <a:cubicBezTo>
                    <a:pt x="21" y="53"/>
                    <a:pt x="18" y="53"/>
                    <a:pt x="17" y="5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8">
              <a:extLst>
                <a:ext uri="{FF2B5EF4-FFF2-40B4-BE49-F238E27FC236}">
                  <a16:creationId xmlns:a16="http://schemas.microsoft.com/office/drawing/2014/main" id="{1B154F2F-9BD1-4C06-8057-FE8592F69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3848100"/>
              <a:ext cx="411163" cy="336550"/>
            </a:xfrm>
            <a:prstGeom prst="rect">
              <a:avLst/>
            </a:prstGeom>
            <a:solidFill>
              <a:srgbClr val="FEC79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29">
              <a:extLst>
                <a:ext uri="{FF2B5EF4-FFF2-40B4-BE49-F238E27FC236}">
                  <a16:creationId xmlns:a16="http://schemas.microsoft.com/office/drawing/2014/main" id="{11D19493-689F-4FE5-B587-EC3AA4680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4258" y="3848100"/>
              <a:ext cx="898525" cy="336550"/>
            </a:xfrm>
            <a:prstGeom prst="rect">
              <a:avLst/>
            </a:prstGeom>
            <a:solidFill>
              <a:srgbClr val="89CDC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30">
              <a:extLst>
                <a:ext uri="{FF2B5EF4-FFF2-40B4-BE49-F238E27FC236}">
                  <a16:creationId xmlns:a16="http://schemas.microsoft.com/office/drawing/2014/main" id="{64CD1AB4-9A2E-4275-A15B-D43EF0541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4258" y="3276600"/>
              <a:ext cx="898525" cy="522287"/>
            </a:xfrm>
            <a:prstGeom prst="rect">
              <a:avLst/>
            </a:prstGeom>
            <a:solidFill>
              <a:srgbClr val="849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31">
              <a:extLst>
                <a:ext uri="{FF2B5EF4-FFF2-40B4-BE49-F238E27FC236}">
                  <a16:creationId xmlns:a16="http://schemas.microsoft.com/office/drawing/2014/main" id="{7CBD2517-7C4E-4427-9242-8EE0D11E2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217988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32">
              <a:extLst>
                <a:ext uri="{FF2B5EF4-FFF2-40B4-BE49-F238E27FC236}">
                  <a16:creationId xmlns:a16="http://schemas.microsoft.com/office/drawing/2014/main" id="{D3DE51AD-E38C-4F62-83FB-F5A220877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267200"/>
              <a:ext cx="881063" cy="28575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33">
              <a:extLst>
                <a:ext uri="{FF2B5EF4-FFF2-40B4-BE49-F238E27FC236}">
                  <a16:creationId xmlns:a16="http://schemas.microsoft.com/office/drawing/2014/main" id="{A9ED8AC0-BA8E-4436-829F-FC2A3337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316413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34">
              <a:extLst>
                <a:ext uri="{FF2B5EF4-FFF2-40B4-BE49-F238E27FC236}">
                  <a16:creationId xmlns:a16="http://schemas.microsoft.com/office/drawing/2014/main" id="{0F49A44F-DF9E-4AF7-83BE-CEF61ED82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367213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35">
              <a:extLst>
                <a:ext uri="{FF2B5EF4-FFF2-40B4-BE49-F238E27FC236}">
                  <a16:creationId xmlns:a16="http://schemas.microsoft.com/office/drawing/2014/main" id="{693D6056-4812-437D-93F0-8216B34BC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414838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36">
              <a:extLst>
                <a:ext uri="{FF2B5EF4-FFF2-40B4-BE49-F238E27FC236}">
                  <a16:creationId xmlns:a16="http://schemas.microsoft.com/office/drawing/2014/main" id="{79FB30EA-6B07-41ED-B0CB-D7C07F57E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465638"/>
              <a:ext cx="881063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996E7124-8BB5-489D-BB76-09724F548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696" y="4513263"/>
              <a:ext cx="881063" cy="28575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Rectangle 38">
              <a:extLst>
                <a:ext uri="{FF2B5EF4-FFF2-40B4-BE49-F238E27FC236}">
                  <a16:creationId xmlns:a16="http://schemas.microsoft.com/office/drawing/2014/main" id="{468D036C-A4FA-4C37-BDCA-FDA36A303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3860800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39">
              <a:extLst>
                <a:ext uri="{FF2B5EF4-FFF2-40B4-BE49-F238E27FC236}">
                  <a16:creationId xmlns:a16="http://schemas.microsoft.com/office/drawing/2014/main" id="{1462D930-9311-4D30-923E-795C3C2E5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3910013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Rectangle 40">
              <a:extLst>
                <a:ext uri="{FF2B5EF4-FFF2-40B4-BE49-F238E27FC236}">
                  <a16:creationId xmlns:a16="http://schemas.microsoft.com/office/drawing/2014/main" id="{A1F887C0-5BBA-4BEC-B5F1-18B274B5F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3959225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Rectangle 41">
              <a:extLst>
                <a:ext uri="{FF2B5EF4-FFF2-40B4-BE49-F238E27FC236}">
                  <a16:creationId xmlns:a16="http://schemas.microsoft.com/office/drawing/2014/main" id="{8190905A-09C9-4AFD-A414-0959184C8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008438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42">
              <a:extLst>
                <a:ext uri="{FF2B5EF4-FFF2-40B4-BE49-F238E27FC236}">
                  <a16:creationId xmlns:a16="http://schemas.microsoft.com/office/drawing/2014/main" id="{6FD26CAD-EE20-4023-925B-37443446B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057650"/>
              <a:ext cx="431800" cy="28575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Rectangle 43">
              <a:extLst>
                <a:ext uri="{FF2B5EF4-FFF2-40B4-BE49-F238E27FC236}">
                  <a16:creationId xmlns:a16="http://schemas.microsoft.com/office/drawing/2014/main" id="{38787A7D-CAC2-4344-A482-980270E83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106863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Rectangle 44">
              <a:extLst>
                <a:ext uri="{FF2B5EF4-FFF2-40B4-BE49-F238E27FC236}">
                  <a16:creationId xmlns:a16="http://schemas.microsoft.com/office/drawing/2014/main" id="{7D919087-10BD-404D-AB30-896BC4695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958" y="4157663"/>
              <a:ext cx="431800" cy="26987"/>
            </a:xfrm>
            <a:prstGeom prst="rect">
              <a:avLst/>
            </a:pr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45">
              <a:extLst>
                <a:ext uri="{FF2B5EF4-FFF2-40B4-BE49-F238E27FC236}">
                  <a16:creationId xmlns:a16="http://schemas.microsoft.com/office/drawing/2014/main" id="{2B51EFAA-88C6-4183-B84B-F617C19C5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4258" y="4216400"/>
              <a:ext cx="433388" cy="338137"/>
            </a:xfrm>
            <a:prstGeom prst="rect">
              <a:avLst/>
            </a:prstGeom>
            <a:solidFill>
              <a:srgbClr val="F4988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Rectangle 46">
              <a:extLst>
                <a:ext uri="{FF2B5EF4-FFF2-40B4-BE49-F238E27FC236}">
                  <a16:creationId xmlns:a16="http://schemas.microsoft.com/office/drawing/2014/main" id="{FC799946-F68C-4A25-A905-AA995693A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6221" y="4216400"/>
              <a:ext cx="436563" cy="338137"/>
            </a:xfrm>
            <a:prstGeom prst="rect">
              <a:avLst/>
            </a:prstGeom>
            <a:solidFill>
              <a:srgbClr val="CF96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4CE1522F-8D27-4023-AAEC-44B8734937AC}"/>
              </a:ext>
            </a:extLst>
          </p:cNvPr>
          <p:cNvSpPr txBox="1"/>
          <p:nvPr/>
        </p:nvSpPr>
        <p:spPr>
          <a:xfrm>
            <a:off x="690563" y="314325"/>
            <a:ext cx="3360737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+mj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13278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+mj-lt"/>
              </a:rPr>
              <a:t>Who should use 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8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A00571E-411D-4C15-B2ED-14DFD645F7A4}"/>
              </a:ext>
            </a:extLst>
          </p:cNvPr>
          <p:cNvGrpSpPr/>
          <p:nvPr/>
        </p:nvGrpSpPr>
        <p:grpSpPr>
          <a:xfrm>
            <a:off x="907856" y="2884047"/>
            <a:ext cx="5001650" cy="492443"/>
            <a:chOff x="2562895" y="1897663"/>
            <a:chExt cx="5001650" cy="492443"/>
          </a:xfrm>
        </p:grpSpPr>
        <p:sp>
          <p:nvSpPr>
            <p:cNvPr id="41" name="Freeform 4460">
              <a:extLst>
                <a:ext uri="{FF2B5EF4-FFF2-40B4-BE49-F238E27FC236}">
                  <a16:creationId xmlns:a16="http://schemas.microsoft.com/office/drawing/2014/main" id="{70C96CB5-C54F-488C-B924-7C1EFA0EFD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F91E82-2914-42E0-9AB0-E0467A788939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Developers performing testing on the target web application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32A573-F82E-49A8-ACD9-B77AA22C05E3}"/>
              </a:ext>
            </a:extLst>
          </p:cNvPr>
          <p:cNvGrpSpPr/>
          <p:nvPr/>
        </p:nvGrpSpPr>
        <p:grpSpPr>
          <a:xfrm>
            <a:off x="907856" y="3897978"/>
            <a:ext cx="5001650" cy="492443"/>
            <a:chOff x="2562895" y="1897663"/>
            <a:chExt cx="5001650" cy="492443"/>
          </a:xfrm>
        </p:grpSpPr>
        <p:sp>
          <p:nvSpPr>
            <p:cNvPr id="44" name="Freeform 4460">
              <a:extLst>
                <a:ext uri="{FF2B5EF4-FFF2-40B4-BE49-F238E27FC236}">
                  <a16:creationId xmlns:a16="http://schemas.microsoft.com/office/drawing/2014/main" id="{806A6737-918E-4688-8151-AD1F97A5B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BC2701-F951-40F2-94C5-EED0206FF3B9}"/>
                </a:ext>
              </a:extLst>
            </p:cNvPr>
            <p:cNvSpPr txBox="1"/>
            <p:nvPr/>
          </p:nvSpPr>
          <p:spPr>
            <a:xfrm>
              <a:off x="3129915" y="1897663"/>
              <a:ext cx="443463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Individuals who are just getting into the web application testing workflow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35DC3C6-2E5E-4472-ABB6-D935C7A93E7E}"/>
              </a:ext>
            </a:extLst>
          </p:cNvPr>
          <p:cNvGrpSpPr/>
          <p:nvPr/>
        </p:nvGrpSpPr>
        <p:grpSpPr>
          <a:xfrm>
            <a:off x="907856" y="1867283"/>
            <a:ext cx="5001650" cy="492443"/>
            <a:chOff x="2562895" y="1897663"/>
            <a:chExt cx="5001650" cy="492443"/>
          </a:xfrm>
        </p:grpSpPr>
        <p:sp>
          <p:nvSpPr>
            <p:cNvPr id="76" name="Freeform 4460">
              <a:extLst>
                <a:ext uri="{FF2B5EF4-FFF2-40B4-BE49-F238E27FC236}">
                  <a16:creationId xmlns:a16="http://schemas.microsoft.com/office/drawing/2014/main" id="{9C54181A-5500-469D-986D-AED0FA8C0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41692A-0638-4614-8452-CB484F331B52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Security testing teams without access to paid/premium application scanners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DFE5B0C-F85D-4CA3-BC57-3251793E73F2}"/>
              </a:ext>
            </a:extLst>
          </p:cNvPr>
          <p:cNvGrpSpPr/>
          <p:nvPr/>
        </p:nvGrpSpPr>
        <p:grpSpPr>
          <a:xfrm>
            <a:off x="910013" y="4849976"/>
            <a:ext cx="5001650" cy="492443"/>
            <a:chOff x="2562895" y="1897663"/>
            <a:chExt cx="5001650" cy="492443"/>
          </a:xfrm>
        </p:grpSpPr>
        <p:sp>
          <p:nvSpPr>
            <p:cNvPr id="91" name="Freeform 4460">
              <a:extLst>
                <a:ext uri="{FF2B5EF4-FFF2-40B4-BE49-F238E27FC236}">
                  <a16:creationId xmlns:a16="http://schemas.microsoft.com/office/drawing/2014/main" id="{8649A9B3-65F6-4067-9A71-D841353A5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2A3B83-9857-4FB8-8349-AA9F48DAF237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Security testing teams with other tools to serve as a supplementary scanner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25A1F0-8C19-44DB-AF34-731E9BFE10D2}"/>
              </a:ext>
            </a:extLst>
          </p:cNvPr>
          <p:cNvGrpSpPr/>
          <p:nvPr/>
        </p:nvGrpSpPr>
        <p:grpSpPr>
          <a:xfrm>
            <a:off x="907856" y="1928131"/>
            <a:ext cx="355600" cy="355600"/>
            <a:chOff x="907856" y="1936892"/>
            <a:chExt cx="355600" cy="355600"/>
          </a:xfrm>
        </p:grpSpPr>
        <p:sp>
          <p:nvSpPr>
            <p:cNvPr id="32" name="Freeform 4460">
              <a:extLst>
                <a:ext uri="{FF2B5EF4-FFF2-40B4-BE49-F238E27FC236}">
                  <a16:creationId xmlns:a16="http://schemas.microsoft.com/office/drawing/2014/main" id="{FB196AB4-FBFB-4FFA-9288-512E003F5C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C8A9C5-C8D0-4066-9689-BDD67C973E96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4513F-B5E2-4E84-A0C1-A812061748F9}"/>
              </a:ext>
            </a:extLst>
          </p:cNvPr>
          <p:cNvGrpSpPr/>
          <p:nvPr/>
        </p:nvGrpSpPr>
        <p:grpSpPr>
          <a:xfrm>
            <a:off x="907856" y="2953656"/>
            <a:ext cx="355600" cy="355600"/>
            <a:chOff x="907856" y="1936892"/>
            <a:chExt cx="355600" cy="355600"/>
          </a:xfrm>
        </p:grpSpPr>
        <p:sp>
          <p:nvSpPr>
            <p:cNvPr id="35" name="Freeform 4460">
              <a:extLst>
                <a:ext uri="{FF2B5EF4-FFF2-40B4-BE49-F238E27FC236}">
                  <a16:creationId xmlns:a16="http://schemas.microsoft.com/office/drawing/2014/main" id="{230DF4ED-42FB-493B-9BF1-805C581362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6CE56D-A0FE-49A2-BFFB-8D8BA6D23F56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03DFC7-631E-426D-BF43-CA497B37314B}"/>
              </a:ext>
            </a:extLst>
          </p:cNvPr>
          <p:cNvGrpSpPr/>
          <p:nvPr/>
        </p:nvGrpSpPr>
        <p:grpSpPr>
          <a:xfrm>
            <a:off x="907856" y="3967587"/>
            <a:ext cx="355600" cy="355600"/>
            <a:chOff x="907856" y="1936892"/>
            <a:chExt cx="355600" cy="355600"/>
          </a:xfrm>
        </p:grpSpPr>
        <p:sp>
          <p:nvSpPr>
            <p:cNvPr id="38" name="Freeform 4460">
              <a:extLst>
                <a:ext uri="{FF2B5EF4-FFF2-40B4-BE49-F238E27FC236}">
                  <a16:creationId xmlns:a16="http://schemas.microsoft.com/office/drawing/2014/main" id="{035E1B3B-AB19-4DF0-8CCF-CDC6C944F9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19B28A6-8A77-4970-9A3C-B725D2C315DF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0DA94B8-43BD-45D3-8C80-1E50211A6119}"/>
              </a:ext>
            </a:extLst>
          </p:cNvPr>
          <p:cNvGrpSpPr/>
          <p:nvPr/>
        </p:nvGrpSpPr>
        <p:grpSpPr>
          <a:xfrm>
            <a:off x="907856" y="4919585"/>
            <a:ext cx="355600" cy="355600"/>
            <a:chOff x="907856" y="1936892"/>
            <a:chExt cx="355600" cy="355600"/>
          </a:xfrm>
        </p:grpSpPr>
        <p:sp>
          <p:nvSpPr>
            <p:cNvPr id="53" name="Freeform 4460">
              <a:extLst>
                <a:ext uri="{FF2B5EF4-FFF2-40B4-BE49-F238E27FC236}">
                  <a16:creationId xmlns:a16="http://schemas.microsoft.com/office/drawing/2014/main" id="{73EBC1EE-2D45-41D1-8626-109D67CBEA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BCD6402-E44E-4CDE-835F-6351FBE501D2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40686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12B7D6-9400-4B66-8814-DCF81BEB0C5A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BBA9B-1329-47B1-9E6B-E01B6F3823E7}"/>
              </a:ext>
            </a:extLst>
          </p:cNvPr>
          <p:cNvSpPr/>
          <p:nvPr/>
        </p:nvSpPr>
        <p:spPr>
          <a:xfrm>
            <a:off x="10058400" y="97712"/>
            <a:ext cx="2133600" cy="177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5CD53-6108-481A-A31F-305A2B59F755}"/>
              </a:ext>
            </a:extLst>
          </p:cNvPr>
          <p:cNvSpPr txBox="1"/>
          <p:nvPr/>
        </p:nvSpPr>
        <p:spPr>
          <a:xfrm>
            <a:off x="690563" y="314325"/>
            <a:ext cx="1080835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+mj-lt"/>
              </a:rPr>
              <a:t>References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38B08-802D-4164-A9F1-6C44A3B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3CF5-7D66-4CD0-9E7B-9C396B7C8ADE}" type="datetime1">
              <a:rPr lang="en-US" smtClean="0"/>
              <a:t>3/17/2021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4C915-17D6-486A-86EC-048CBE10C825}" type="slidenum">
              <a:rPr lang="en-US" smtClean="0"/>
              <a:t>9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A00571E-411D-4C15-B2ED-14DFD645F7A4}"/>
              </a:ext>
            </a:extLst>
          </p:cNvPr>
          <p:cNvGrpSpPr/>
          <p:nvPr/>
        </p:nvGrpSpPr>
        <p:grpSpPr>
          <a:xfrm>
            <a:off x="907856" y="2884047"/>
            <a:ext cx="5001650" cy="492443"/>
            <a:chOff x="2562895" y="1897663"/>
            <a:chExt cx="5001650" cy="492443"/>
          </a:xfrm>
        </p:grpSpPr>
        <p:sp>
          <p:nvSpPr>
            <p:cNvPr id="41" name="Freeform 4460">
              <a:extLst>
                <a:ext uri="{FF2B5EF4-FFF2-40B4-BE49-F238E27FC236}">
                  <a16:creationId xmlns:a16="http://schemas.microsoft.com/office/drawing/2014/main" id="{70C96CB5-C54F-488C-B924-7C1EFA0EFD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F91E82-2914-42E0-9AB0-E0467A788939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OWASP ZAP GitHub Repository:</a:t>
              </a:r>
            </a:p>
            <a:p>
              <a:r>
                <a:rPr lang="en-US" sz="1600" dirty="0">
                  <a:hlinkClick r:id="rId2"/>
                </a:rPr>
                <a:t>https://github.com/zaproxy/zaproxy</a:t>
              </a:r>
              <a:endParaRPr lang="en-US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32A573-F82E-49A8-ACD9-B77AA22C05E3}"/>
              </a:ext>
            </a:extLst>
          </p:cNvPr>
          <p:cNvGrpSpPr/>
          <p:nvPr/>
        </p:nvGrpSpPr>
        <p:grpSpPr>
          <a:xfrm>
            <a:off x="905699" y="3900811"/>
            <a:ext cx="5001650" cy="492443"/>
            <a:chOff x="2562895" y="1897663"/>
            <a:chExt cx="5001650" cy="492443"/>
          </a:xfrm>
        </p:grpSpPr>
        <p:sp>
          <p:nvSpPr>
            <p:cNvPr id="44" name="Freeform 4460">
              <a:extLst>
                <a:ext uri="{FF2B5EF4-FFF2-40B4-BE49-F238E27FC236}">
                  <a16:creationId xmlns:a16="http://schemas.microsoft.com/office/drawing/2014/main" id="{806A6737-918E-4688-8151-AD1F97A5B9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BC2701-F951-40F2-94C5-EED0206FF3B9}"/>
                </a:ext>
              </a:extLst>
            </p:cNvPr>
            <p:cNvSpPr txBox="1"/>
            <p:nvPr/>
          </p:nvSpPr>
          <p:spPr>
            <a:xfrm>
              <a:off x="3129915" y="1897663"/>
              <a:ext cx="443463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OWASP ZAP User Guide:</a:t>
              </a:r>
            </a:p>
            <a:p>
              <a:r>
                <a:rPr lang="en-US" sz="1600" dirty="0">
                  <a:hlinkClick r:id="rId3"/>
                </a:rPr>
                <a:t>https://www.zaproxy.org/docs/desktop/</a:t>
              </a:r>
              <a:endParaRPr lang="en-US" sz="16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35DC3C6-2E5E-4472-ABB6-D935C7A93E7E}"/>
              </a:ext>
            </a:extLst>
          </p:cNvPr>
          <p:cNvGrpSpPr/>
          <p:nvPr/>
        </p:nvGrpSpPr>
        <p:grpSpPr>
          <a:xfrm>
            <a:off x="907856" y="1867283"/>
            <a:ext cx="5001650" cy="492443"/>
            <a:chOff x="2562895" y="1897663"/>
            <a:chExt cx="5001650" cy="492443"/>
          </a:xfrm>
        </p:grpSpPr>
        <p:sp>
          <p:nvSpPr>
            <p:cNvPr id="76" name="Freeform 4460">
              <a:extLst>
                <a:ext uri="{FF2B5EF4-FFF2-40B4-BE49-F238E27FC236}">
                  <a16:creationId xmlns:a16="http://schemas.microsoft.com/office/drawing/2014/main" id="{9C54181A-5500-469D-986D-AED0FA8C0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41692A-0638-4614-8452-CB484F331B52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OWASP Zed Attack Proxy (ZAP):</a:t>
              </a:r>
            </a:p>
            <a:p>
              <a:r>
                <a:rPr lang="en-US" sz="1600" dirty="0">
                  <a:hlinkClick r:id="rId4"/>
                </a:rPr>
                <a:t>https://www.zaproxy.org/</a:t>
              </a:r>
              <a:endParaRPr lang="en-US" sz="160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A3C712-8CD0-44AA-891C-2854D0187E4A}"/>
              </a:ext>
            </a:extLst>
          </p:cNvPr>
          <p:cNvGrpSpPr/>
          <p:nvPr/>
        </p:nvGrpSpPr>
        <p:grpSpPr>
          <a:xfrm>
            <a:off x="6352150" y="2884047"/>
            <a:ext cx="5001650" cy="492443"/>
            <a:chOff x="2562895" y="1897663"/>
            <a:chExt cx="5001650" cy="492443"/>
          </a:xfrm>
        </p:grpSpPr>
        <p:sp>
          <p:nvSpPr>
            <p:cNvPr id="82" name="Freeform 4460">
              <a:extLst>
                <a:ext uri="{FF2B5EF4-FFF2-40B4-BE49-F238E27FC236}">
                  <a16:creationId xmlns:a16="http://schemas.microsoft.com/office/drawing/2014/main" id="{013CB72A-D6CA-400A-BEB2-1233478A21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9A559CA-6980-4959-92BF-F3BE194C6B8F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OWASP ZAP HUD GitHub Repository:</a:t>
              </a:r>
            </a:p>
            <a:p>
              <a:r>
                <a:rPr lang="en-US" sz="1600" dirty="0">
                  <a:hlinkClick r:id="rId5"/>
                </a:rPr>
                <a:t>https://github.com/zaproxy/zap-hud</a:t>
              </a:r>
              <a:endParaRPr lang="en-US" sz="1600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B5DBDFF-1F81-4E4C-835E-BF554FE405B6}"/>
              </a:ext>
            </a:extLst>
          </p:cNvPr>
          <p:cNvGrpSpPr/>
          <p:nvPr/>
        </p:nvGrpSpPr>
        <p:grpSpPr>
          <a:xfrm>
            <a:off x="6349993" y="3900811"/>
            <a:ext cx="5001650" cy="492443"/>
            <a:chOff x="2562895" y="1897663"/>
            <a:chExt cx="5001650" cy="492443"/>
          </a:xfrm>
        </p:grpSpPr>
        <p:sp>
          <p:nvSpPr>
            <p:cNvPr id="85" name="Freeform 4460">
              <a:extLst>
                <a:ext uri="{FF2B5EF4-FFF2-40B4-BE49-F238E27FC236}">
                  <a16:creationId xmlns:a16="http://schemas.microsoft.com/office/drawing/2014/main" id="{196FEA63-4197-4CB8-86D1-9B1DC4F46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D73A09-6542-4A64-916F-4185FB2F1899}"/>
                </a:ext>
              </a:extLst>
            </p:cNvPr>
            <p:cNvSpPr txBox="1"/>
            <p:nvPr/>
          </p:nvSpPr>
          <p:spPr>
            <a:xfrm>
              <a:off x="3129915" y="1897663"/>
              <a:ext cx="443463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Web Scan Test Site:</a:t>
              </a:r>
            </a:p>
            <a:p>
              <a:r>
                <a:rPr lang="en-US" sz="1600" dirty="0">
                  <a:hlinkClick r:id="rId6"/>
                </a:rPr>
                <a:t>https://www.webscantest.com/</a:t>
              </a:r>
              <a:endParaRPr lang="en-US" sz="1600"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DFE5B0C-F85D-4CA3-BC57-3251793E73F2}"/>
              </a:ext>
            </a:extLst>
          </p:cNvPr>
          <p:cNvGrpSpPr/>
          <p:nvPr/>
        </p:nvGrpSpPr>
        <p:grpSpPr>
          <a:xfrm>
            <a:off x="6352150" y="1867283"/>
            <a:ext cx="5001650" cy="492443"/>
            <a:chOff x="2562895" y="1897663"/>
            <a:chExt cx="5001650" cy="492443"/>
          </a:xfrm>
        </p:grpSpPr>
        <p:sp>
          <p:nvSpPr>
            <p:cNvPr id="91" name="Freeform 4460">
              <a:extLst>
                <a:ext uri="{FF2B5EF4-FFF2-40B4-BE49-F238E27FC236}">
                  <a16:creationId xmlns:a16="http://schemas.microsoft.com/office/drawing/2014/main" id="{8649A9B3-65F6-4067-9A71-D841353A5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2895" y="196727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2A3B83-9857-4FB8-8349-AA9F48DAF237}"/>
                </a:ext>
              </a:extLst>
            </p:cNvPr>
            <p:cNvSpPr txBox="1"/>
            <p:nvPr/>
          </p:nvSpPr>
          <p:spPr>
            <a:xfrm>
              <a:off x="3129914" y="1897663"/>
              <a:ext cx="4434631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OWASP ZAP Documentation:</a:t>
              </a:r>
            </a:p>
            <a:p>
              <a:r>
                <a:rPr lang="en-US" sz="1600" dirty="0">
                  <a:hlinkClick r:id="rId7"/>
                </a:rPr>
                <a:t>https://www.zaproxy.org/docs/</a:t>
              </a:r>
              <a:endParaRPr lang="en-US" sz="16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25A1F0-8C19-44DB-AF34-731E9BFE10D2}"/>
              </a:ext>
            </a:extLst>
          </p:cNvPr>
          <p:cNvGrpSpPr/>
          <p:nvPr/>
        </p:nvGrpSpPr>
        <p:grpSpPr>
          <a:xfrm>
            <a:off x="907856" y="1928131"/>
            <a:ext cx="355600" cy="355600"/>
            <a:chOff x="907856" y="1936892"/>
            <a:chExt cx="355600" cy="355600"/>
          </a:xfrm>
        </p:grpSpPr>
        <p:sp>
          <p:nvSpPr>
            <p:cNvPr id="32" name="Freeform 4460">
              <a:extLst>
                <a:ext uri="{FF2B5EF4-FFF2-40B4-BE49-F238E27FC236}">
                  <a16:creationId xmlns:a16="http://schemas.microsoft.com/office/drawing/2014/main" id="{FB196AB4-FBFB-4FFA-9288-512E003F5C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C8A9C5-C8D0-4066-9689-BDD67C973E96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4513F-B5E2-4E84-A0C1-A812061748F9}"/>
              </a:ext>
            </a:extLst>
          </p:cNvPr>
          <p:cNvGrpSpPr/>
          <p:nvPr/>
        </p:nvGrpSpPr>
        <p:grpSpPr>
          <a:xfrm>
            <a:off x="907856" y="2953656"/>
            <a:ext cx="355600" cy="355600"/>
            <a:chOff x="907856" y="1936892"/>
            <a:chExt cx="355600" cy="355600"/>
          </a:xfrm>
        </p:grpSpPr>
        <p:sp>
          <p:nvSpPr>
            <p:cNvPr id="35" name="Freeform 4460">
              <a:extLst>
                <a:ext uri="{FF2B5EF4-FFF2-40B4-BE49-F238E27FC236}">
                  <a16:creationId xmlns:a16="http://schemas.microsoft.com/office/drawing/2014/main" id="{230DF4ED-42FB-493B-9BF1-805C581362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6CE56D-A0FE-49A2-BFFB-8D8BA6D23F56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03DFC7-631E-426D-BF43-CA497B37314B}"/>
              </a:ext>
            </a:extLst>
          </p:cNvPr>
          <p:cNvGrpSpPr/>
          <p:nvPr/>
        </p:nvGrpSpPr>
        <p:grpSpPr>
          <a:xfrm>
            <a:off x="905699" y="3970420"/>
            <a:ext cx="355600" cy="355600"/>
            <a:chOff x="907856" y="1936892"/>
            <a:chExt cx="355600" cy="355600"/>
          </a:xfrm>
        </p:grpSpPr>
        <p:sp>
          <p:nvSpPr>
            <p:cNvPr id="38" name="Freeform 4460">
              <a:extLst>
                <a:ext uri="{FF2B5EF4-FFF2-40B4-BE49-F238E27FC236}">
                  <a16:creationId xmlns:a16="http://schemas.microsoft.com/office/drawing/2014/main" id="{035E1B3B-AB19-4DF0-8CCF-CDC6C944F9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19B28A6-8A77-4970-9A3C-B725D2C315DF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0DA94B8-43BD-45D3-8C80-1E50211A6119}"/>
              </a:ext>
            </a:extLst>
          </p:cNvPr>
          <p:cNvGrpSpPr/>
          <p:nvPr/>
        </p:nvGrpSpPr>
        <p:grpSpPr>
          <a:xfrm>
            <a:off x="6349993" y="1936892"/>
            <a:ext cx="355600" cy="355600"/>
            <a:chOff x="907856" y="1936892"/>
            <a:chExt cx="355600" cy="355600"/>
          </a:xfrm>
        </p:grpSpPr>
        <p:sp>
          <p:nvSpPr>
            <p:cNvPr id="53" name="Freeform 4460">
              <a:extLst>
                <a:ext uri="{FF2B5EF4-FFF2-40B4-BE49-F238E27FC236}">
                  <a16:creationId xmlns:a16="http://schemas.microsoft.com/office/drawing/2014/main" id="{73EBC1EE-2D45-41D1-8626-109D67CBEA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BCD6402-E44E-4CDE-835F-6351FBE501D2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2F380F-061B-4D28-8959-C9A7C63EE3FE}"/>
              </a:ext>
            </a:extLst>
          </p:cNvPr>
          <p:cNvGrpSpPr/>
          <p:nvPr/>
        </p:nvGrpSpPr>
        <p:grpSpPr>
          <a:xfrm>
            <a:off x="6349993" y="2953656"/>
            <a:ext cx="355600" cy="355600"/>
            <a:chOff x="907856" y="1936892"/>
            <a:chExt cx="355600" cy="355600"/>
          </a:xfrm>
        </p:grpSpPr>
        <p:sp>
          <p:nvSpPr>
            <p:cNvPr id="56" name="Freeform 4460">
              <a:extLst>
                <a:ext uri="{FF2B5EF4-FFF2-40B4-BE49-F238E27FC236}">
                  <a16:creationId xmlns:a16="http://schemas.microsoft.com/office/drawing/2014/main" id="{1613B78E-9238-47E9-8665-3B84BE031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1742F07-4440-436B-B985-4ED266965D52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FF7076-48AA-46C0-8EF7-1824B4348750}"/>
              </a:ext>
            </a:extLst>
          </p:cNvPr>
          <p:cNvGrpSpPr/>
          <p:nvPr/>
        </p:nvGrpSpPr>
        <p:grpSpPr>
          <a:xfrm>
            <a:off x="6347836" y="3967491"/>
            <a:ext cx="355600" cy="355600"/>
            <a:chOff x="907856" y="1936892"/>
            <a:chExt cx="355600" cy="355600"/>
          </a:xfrm>
        </p:grpSpPr>
        <p:sp>
          <p:nvSpPr>
            <p:cNvPr id="59" name="Freeform 4460">
              <a:extLst>
                <a:ext uri="{FF2B5EF4-FFF2-40B4-BE49-F238E27FC236}">
                  <a16:creationId xmlns:a16="http://schemas.microsoft.com/office/drawing/2014/main" id="{C97DE163-80F3-490B-8135-B86ECFC984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7856" y="1936892"/>
              <a:ext cx="355600" cy="355600"/>
            </a:xfrm>
            <a:custGeom>
              <a:avLst/>
              <a:gdLst>
                <a:gd name="T0" fmla="*/ 371 w 718"/>
                <a:gd name="T1" fmla="*/ 473 h 718"/>
                <a:gd name="T2" fmla="*/ 359 w 718"/>
                <a:gd name="T3" fmla="*/ 478 h 718"/>
                <a:gd name="T4" fmla="*/ 346 w 718"/>
                <a:gd name="T5" fmla="*/ 473 h 718"/>
                <a:gd name="T6" fmla="*/ 344 w 718"/>
                <a:gd name="T7" fmla="*/ 371 h 718"/>
                <a:gd name="T8" fmla="*/ 353 w 718"/>
                <a:gd name="T9" fmla="*/ 361 h 718"/>
                <a:gd name="T10" fmla="*/ 381 w 718"/>
                <a:gd name="T11" fmla="*/ 356 h 718"/>
                <a:gd name="T12" fmla="*/ 412 w 718"/>
                <a:gd name="T13" fmla="*/ 337 h 718"/>
                <a:gd name="T14" fmla="*/ 430 w 718"/>
                <a:gd name="T15" fmla="*/ 307 h 718"/>
                <a:gd name="T16" fmla="*/ 432 w 718"/>
                <a:gd name="T17" fmla="*/ 270 h 718"/>
                <a:gd name="T18" fmla="*/ 417 w 718"/>
                <a:gd name="T19" fmla="*/ 238 h 718"/>
                <a:gd name="T20" fmla="*/ 388 w 718"/>
                <a:gd name="T21" fmla="*/ 215 h 718"/>
                <a:gd name="T22" fmla="*/ 352 w 718"/>
                <a:gd name="T23" fmla="*/ 210 h 718"/>
                <a:gd name="T24" fmla="*/ 318 w 718"/>
                <a:gd name="T25" fmla="*/ 223 h 718"/>
                <a:gd name="T26" fmla="*/ 293 w 718"/>
                <a:gd name="T27" fmla="*/ 249 h 718"/>
                <a:gd name="T28" fmla="*/ 284 w 718"/>
                <a:gd name="T29" fmla="*/ 285 h 718"/>
                <a:gd name="T30" fmla="*/ 278 w 718"/>
                <a:gd name="T31" fmla="*/ 298 h 718"/>
                <a:gd name="T32" fmla="*/ 263 w 718"/>
                <a:gd name="T33" fmla="*/ 299 h 718"/>
                <a:gd name="T34" fmla="*/ 254 w 718"/>
                <a:gd name="T35" fmla="*/ 288 h 718"/>
                <a:gd name="T36" fmla="*/ 263 w 718"/>
                <a:gd name="T37" fmla="*/ 244 h 718"/>
                <a:gd name="T38" fmla="*/ 292 w 718"/>
                <a:gd name="T39" fmla="*/ 205 h 718"/>
                <a:gd name="T40" fmla="*/ 338 w 718"/>
                <a:gd name="T41" fmla="*/ 182 h 718"/>
                <a:gd name="T42" fmla="*/ 390 w 718"/>
                <a:gd name="T43" fmla="*/ 184 h 718"/>
                <a:gd name="T44" fmla="*/ 433 w 718"/>
                <a:gd name="T45" fmla="*/ 211 h 718"/>
                <a:gd name="T46" fmla="*/ 459 w 718"/>
                <a:gd name="T47" fmla="*/ 254 h 718"/>
                <a:gd name="T48" fmla="*/ 462 w 718"/>
                <a:gd name="T49" fmla="*/ 304 h 718"/>
                <a:gd name="T50" fmla="*/ 444 w 718"/>
                <a:gd name="T51" fmla="*/ 347 h 718"/>
                <a:gd name="T52" fmla="*/ 410 w 718"/>
                <a:gd name="T53" fmla="*/ 377 h 718"/>
                <a:gd name="T54" fmla="*/ 359 w 718"/>
                <a:gd name="T55" fmla="*/ 576 h 718"/>
                <a:gd name="T56" fmla="*/ 328 w 718"/>
                <a:gd name="T57" fmla="*/ 560 h 718"/>
                <a:gd name="T58" fmla="*/ 324 w 718"/>
                <a:gd name="T59" fmla="*/ 524 h 718"/>
                <a:gd name="T60" fmla="*/ 352 w 718"/>
                <a:gd name="T61" fmla="*/ 502 h 718"/>
                <a:gd name="T62" fmla="*/ 385 w 718"/>
                <a:gd name="T63" fmla="*/ 513 h 718"/>
                <a:gd name="T64" fmla="*/ 396 w 718"/>
                <a:gd name="T65" fmla="*/ 546 h 718"/>
                <a:gd name="T66" fmla="*/ 373 w 718"/>
                <a:gd name="T67" fmla="*/ 574 h 718"/>
                <a:gd name="T68" fmla="*/ 322 w 718"/>
                <a:gd name="T69" fmla="*/ 2 h 718"/>
                <a:gd name="T70" fmla="*/ 235 w 718"/>
                <a:gd name="T71" fmla="*/ 23 h 718"/>
                <a:gd name="T72" fmla="*/ 158 w 718"/>
                <a:gd name="T73" fmla="*/ 62 h 718"/>
                <a:gd name="T74" fmla="*/ 93 w 718"/>
                <a:gd name="T75" fmla="*/ 118 h 718"/>
                <a:gd name="T76" fmla="*/ 44 w 718"/>
                <a:gd name="T77" fmla="*/ 188 h 718"/>
                <a:gd name="T78" fmla="*/ 11 w 718"/>
                <a:gd name="T79" fmla="*/ 270 h 718"/>
                <a:gd name="T80" fmla="*/ 0 w 718"/>
                <a:gd name="T81" fmla="*/ 360 h 718"/>
                <a:gd name="T82" fmla="*/ 11 w 718"/>
                <a:gd name="T83" fmla="*/ 450 h 718"/>
                <a:gd name="T84" fmla="*/ 44 w 718"/>
                <a:gd name="T85" fmla="*/ 531 h 718"/>
                <a:gd name="T86" fmla="*/ 93 w 718"/>
                <a:gd name="T87" fmla="*/ 600 h 718"/>
                <a:gd name="T88" fmla="*/ 158 w 718"/>
                <a:gd name="T89" fmla="*/ 657 h 718"/>
                <a:gd name="T90" fmla="*/ 235 w 718"/>
                <a:gd name="T91" fmla="*/ 697 h 718"/>
                <a:gd name="T92" fmla="*/ 322 w 718"/>
                <a:gd name="T93" fmla="*/ 716 h 718"/>
                <a:gd name="T94" fmla="*/ 414 w 718"/>
                <a:gd name="T95" fmla="*/ 714 h 718"/>
                <a:gd name="T96" fmla="*/ 498 w 718"/>
                <a:gd name="T97" fmla="*/ 690 h 718"/>
                <a:gd name="T98" fmla="*/ 573 w 718"/>
                <a:gd name="T99" fmla="*/ 647 h 718"/>
                <a:gd name="T100" fmla="*/ 635 w 718"/>
                <a:gd name="T101" fmla="*/ 588 h 718"/>
                <a:gd name="T102" fmla="*/ 682 w 718"/>
                <a:gd name="T103" fmla="*/ 515 h 718"/>
                <a:gd name="T104" fmla="*/ 710 w 718"/>
                <a:gd name="T105" fmla="*/ 431 h 718"/>
                <a:gd name="T106" fmla="*/ 718 w 718"/>
                <a:gd name="T107" fmla="*/ 340 h 718"/>
                <a:gd name="T108" fmla="*/ 702 w 718"/>
                <a:gd name="T109" fmla="*/ 253 h 718"/>
                <a:gd name="T110" fmla="*/ 665 w 718"/>
                <a:gd name="T111" fmla="*/ 174 h 718"/>
                <a:gd name="T112" fmla="*/ 613 w 718"/>
                <a:gd name="T113" fmla="*/ 106 h 718"/>
                <a:gd name="T114" fmla="*/ 544 w 718"/>
                <a:gd name="T115" fmla="*/ 53 h 718"/>
                <a:gd name="T116" fmla="*/ 465 w 718"/>
                <a:gd name="T117" fmla="*/ 16 h 718"/>
                <a:gd name="T118" fmla="*/ 377 w 718"/>
                <a:gd name="T119" fmla="*/ 1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18" h="718">
                  <a:moveTo>
                    <a:pt x="374" y="390"/>
                  </a:moveTo>
                  <a:lnTo>
                    <a:pt x="374" y="463"/>
                  </a:lnTo>
                  <a:lnTo>
                    <a:pt x="373" y="467"/>
                  </a:lnTo>
                  <a:lnTo>
                    <a:pt x="373" y="470"/>
                  </a:lnTo>
                  <a:lnTo>
                    <a:pt x="371" y="473"/>
                  </a:lnTo>
                  <a:lnTo>
                    <a:pt x="370" y="475"/>
                  </a:lnTo>
                  <a:lnTo>
                    <a:pt x="367" y="476"/>
                  </a:lnTo>
                  <a:lnTo>
                    <a:pt x="365" y="477"/>
                  </a:lnTo>
                  <a:lnTo>
                    <a:pt x="361" y="478"/>
                  </a:lnTo>
                  <a:lnTo>
                    <a:pt x="359" y="478"/>
                  </a:lnTo>
                  <a:lnTo>
                    <a:pt x="356" y="478"/>
                  </a:lnTo>
                  <a:lnTo>
                    <a:pt x="353" y="477"/>
                  </a:lnTo>
                  <a:lnTo>
                    <a:pt x="351" y="476"/>
                  </a:lnTo>
                  <a:lnTo>
                    <a:pt x="349" y="475"/>
                  </a:lnTo>
                  <a:lnTo>
                    <a:pt x="346" y="473"/>
                  </a:lnTo>
                  <a:lnTo>
                    <a:pt x="345" y="470"/>
                  </a:lnTo>
                  <a:lnTo>
                    <a:pt x="344" y="467"/>
                  </a:lnTo>
                  <a:lnTo>
                    <a:pt x="344" y="463"/>
                  </a:lnTo>
                  <a:lnTo>
                    <a:pt x="344" y="375"/>
                  </a:lnTo>
                  <a:lnTo>
                    <a:pt x="344" y="371"/>
                  </a:lnTo>
                  <a:lnTo>
                    <a:pt x="345" y="368"/>
                  </a:lnTo>
                  <a:lnTo>
                    <a:pt x="346" y="366"/>
                  </a:lnTo>
                  <a:lnTo>
                    <a:pt x="349" y="364"/>
                  </a:lnTo>
                  <a:lnTo>
                    <a:pt x="351" y="362"/>
                  </a:lnTo>
                  <a:lnTo>
                    <a:pt x="353" y="361"/>
                  </a:lnTo>
                  <a:lnTo>
                    <a:pt x="356" y="360"/>
                  </a:lnTo>
                  <a:lnTo>
                    <a:pt x="359" y="360"/>
                  </a:lnTo>
                  <a:lnTo>
                    <a:pt x="367" y="359"/>
                  </a:lnTo>
                  <a:lnTo>
                    <a:pt x="374" y="358"/>
                  </a:lnTo>
                  <a:lnTo>
                    <a:pt x="381" y="356"/>
                  </a:lnTo>
                  <a:lnTo>
                    <a:pt x="388" y="353"/>
                  </a:lnTo>
                  <a:lnTo>
                    <a:pt x="395" y="350"/>
                  </a:lnTo>
                  <a:lnTo>
                    <a:pt x="401" y="347"/>
                  </a:lnTo>
                  <a:lnTo>
                    <a:pt x="406" y="343"/>
                  </a:lnTo>
                  <a:lnTo>
                    <a:pt x="412" y="337"/>
                  </a:lnTo>
                  <a:lnTo>
                    <a:pt x="417" y="332"/>
                  </a:lnTo>
                  <a:lnTo>
                    <a:pt x="421" y="327"/>
                  </a:lnTo>
                  <a:lnTo>
                    <a:pt x="425" y="320"/>
                  </a:lnTo>
                  <a:lnTo>
                    <a:pt x="428" y="314"/>
                  </a:lnTo>
                  <a:lnTo>
                    <a:pt x="430" y="307"/>
                  </a:lnTo>
                  <a:lnTo>
                    <a:pt x="432" y="300"/>
                  </a:lnTo>
                  <a:lnTo>
                    <a:pt x="433" y="292"/>
                  </a:lnTo>
                  <a:lnTo>
                    <a:pt x="434" y="285"/>
                  </a:lnTo>
                  <a:lnTo>
                    <a:pt x="433" y="277"/>
                  </a:lnTo>
                  <a:lnTo>
                    <a:pt x="432" y="270"/>
                  </a:lnTo>
                  <a:lnTo>
                    <a:pt x="430" y="262"/>
                  </a:lnTo>
                  <a:lnTo>
                    <a:pt x="428" y="256"/>
                  </a:lnTo>
                  <a:lnTo>
                    <a:pt x="425" y="249"/>
                  </a:lnTo>
                  <a:lnTo>
                    <a:pt x="421" y="243"/>
                  </a:lnTo>
                  <a:lnTo>
                    <a:pt x="417" y="238"/>
                  </a:lnTo>
                  <a:lnTo>
                    <a:pt x="412" y="232"/>
                  </a:lnTo>
                  <a:lnTo>
                    <a:pt x="406" y="227"/>
                  </a:lnTo>
                  <a:lnTo>
                    <a:pt x="401" y="223"/>
                  </a:lnTo>
                  <a:lnTo>
                    <a:pt x="395" y="218"/>
                  </a:lnTo>
                  <a:lnTo>
                    <a:pt x="388" y="215"/>
                  </a:lnTo>
                  <a:lnTo>
                    <a:pt x="381" y="213"/>
                  </a:lnTo>
                  <a:lnTo>
                    <a:pt x="374" y="211"/>
                  </a:lnTo>
                  <a:lnTo>
                    <a:pt x="367" y="210"/>
                  </a:lnTo>
                  <a:lnTo>
                    <a:pt x="359" y="210"/>
                  </a:lnTo>
                  <a:lnTo>
                    <a:pt x="352" y="210"/>
                  </a:lnTo>
                  <a:lnTo>
                    <a:pt x="344" y="211"/>
                  </a:lnTo>
                  <a:lnTo>
                    <a:pt x="337" y="213"/>
                  </a:lnTo>
                  <a:lnTo>
                    <a:pt x="329" y="215"/>
                  </a:lnTo>
                  <a:lnTo>
                    <a:pt x="323" y="218"/>
                  </a:lnTo>
                  <a:lnTo>
                    <a:pt x="318" y="223"/>
                  </a:lnTo>
                  <a:lnTo>
                    <a:pt x="311" y="227"/>
                  </a:lnTo>
                  <a:lnTo>
                    <a:pt x="306" y="232"/>
                  </a:lnTo>
                  <a:lnTo>
                    <a:pt x="301" y="238"/>
                  </a:lnTo>
                  <a:lnTo>
                    <a:pt x="297" y="243"/>
                  </a:lnTo>
                  <a:lnTo>
                    <a:pt x="293" y="249"/>
                  </a:lnTo>
                  <a:lnTo>
                    <a:pt x="290" y="256"/>
                  </a:lnTo>
                  <a:lnTo>
                    <a:pt x="288" y="262"/>
                  </a:lnTo>
                  <a:lnTo>
                    <a:pt x="285" y="270"/>
                  </a:lnTo>
                  <a:lnTo>
                    <a:pt x="284" y="277"/>
                  </a:lnTo>
                  <a:lnTo>
                    <a:pt x="284" y="285"/>
                  </a:lnTo>
                  <a:lnTo>
                    <a:pt x="283" y="288"/>
                  </a:lnTo>
                  <a:lnTo>
                    <a:pt x="283" y="290"/>
                  </a:lnTo>
                  <a:lnTo>
                    <a:pt x="281" y="293"/>
                  </a:lnTo>
                  <a:lnTo>
                    <a:pt x="280" y="295"/>
                  </a:lnTo>
                  <a:lnTo>
                    <a:pt x="278" y="298"/>
                  </a:lnTo>
                  <a:lnTo>
                    <a:pt x="275" y="299"/>
                  </a:lnTo>
                  <a:lnTo>
                    <a:pt x="273" y="299"/>
                  </a:lnTo>
                  <a:lnTo>
                    <a:pt x="269" y="300"/>
                  </a:lnTo>
                  <a:lnTo>
                    <a:pt x="266" y="299"/>
                  </a:lnTo>
                  <a:lnTo>
                    <a:pt x="263" y="299"/>
                  </a:lnTo>
                  <a:lnTo>
                    <a:pt x="261" y="298"/>
                  </a:lnTo>
                  <a:lnTo>
                    <a:pt x="259" y="295"/>
                  </a:lnTo>
                  <a:lnTo>
                    <a:pt x="257" y="293"/>
                  </a:lnTo>
                  <a:lnTo>
                    <a:pt x="255" y="290"/>
                  </a:lnTo>
                  <a:lnTo>
                    <a:pt x="254" y="288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57" y="263"/>
                  </a:lnTo>
                  <a:lnTo>
                    <a:pt x="259" y="254"/>
                  </a:lnTo>
                  <a:lnTo>
                    <a:pt x="263" y="244"/>
                  </a:lnTo>
                  <a:lnTo>
                    <a:pt x="267" y="236"/>
                  </a:lnTo>
                  <a:lnTo>
                    <a:pt x="273" y="226"/>
                  </a:lnTo>
                  <a:lnTo>
                    <a:pt x="278" y="218"/>
                  </a:lnTo>
                  <a:lnTo>
                    <a:pt x="285" y="211"/>
                  </a:lnTo>
                  <a:lnTo>
                    <a:pt x="292" y="205"/>
                  </a:lnTo>
                  <a:lnTo>
                    <a:pt x="300" y="198"/>
                  </a:lnTo>
                  <a:lnTo>
                    <a:pt x="309" y="193"/>
                  </a:lnTo>
                  <a:lnTo>
                    <a:pt x="319" y="188"/>
                  </a:lnTo>
                  <a:lnTo>
                    <a:pt x="328" y="184"/>
                  </a:lnTo>
                  <a:lnTo>
                    <a:pt x="338" y="182"/>
                  </a:lnTo>
                  <a:lnTo>
                    <a:pt x="349" y="180"/>
                  </a:lnTo>
                  <a:lnTo>
                    <a:pt x="359" y="180"/>
                  </a:lnTo>
                  <a:lnTo>
                    <a:pt x="370" y="180"/>
                  </a:lnTo>
                  <a:lnTo>
                    <a:pt x="380" y="182"/>
                  </a:lnTo>
                  <a:lnTo>
                    <a:pt x="390" y="184"/>
                  </a:lnTo>
                  <a:lnTo>
                    <a:pt x="400" y="188"/>
                  </a:lnTo>
                  <a:lnTo>
                    <a:pt x="408" y="193"/>
                  </a:lnTo>
                  <a:lnTo>
                    <a:pt x="417" y="198"/>
                  </a:lnTo>
                  <a:lnTo>
                    <a:pt x="426" y="205"/>
                  </a:lnTo>
                  <a:lnTo>
                    <a:pt x="433" y="211"/>
                  </a:lnTo>
                  <a:lnTo>
                    <a:pt x="439" y="218"/>
                  </a:lnTo>
                  <a:lnTo>
                    <a:pt x="446" y="226"/>
                  </a:lnTo>
                  <a:lnTo>
                    <a:pt x="451" y="236"/>
                  </a:lnTo>
                  <a:lnTo>
                    <a:pt x="456" y="244"/>
                  </a:lnTo>
                  <a:lnTo>
                    <a:pt x="459" y="254"/>
                  </a:lnTo>
                  <a:lnTo>
                    <a:pt x="461" y="263"/>
                  </a:lnTo>
                  <a:lnTo>
                    <a:pt x="463" y="274"/>
                  </a:lnTo>
                  <a:lnTo>
                    <a:pt x="463" y="285"/>
                  </a:lnTo>
                  <a:lnTo>
                    <a:pt x="463" y="294"/>
                  </a:lnTo>
                  <a:lnTo>
                    <a:pt x="462" y="304"/>
                  </a:lnTo>
                  <a:lnTo>
                    <a:pt x="460" y="314"/>
                  </a:lnTo>
                  <a:lnTo>
                    <a:pt x="457" y="322"/>
                  </a:lnTo>
                  <a:lnTo>
                    <a:pt x="453" y="331"/>
                  </a:lnTo>
                  <a:lnTo>
                    <a:pt x="448" y="339"/>
                  </a:lnTo>
                  <a:lnTo>
                    <a:pt x="444" y="347"/>
                  </a:lnTo>
                  <a:lnTo>
                    <a:pt x="437" y="354"/>
                  </a:lnTo>
                  <a:lnTo>
                    <a:pt x="431" y="361"/>
                  </a:lnTo>
                  <a:lnTo>
                    <a:pt x="425" y="367"/>
                  </a:lnTo>
                  <a:lnTo>
                    <a:pt x="417" y="373"/>
                  </a:lnTo>
                  <a:lnTo>
                    <a:pt x="410" y="377"/>
                  </a:lnTo>
                  <a:lnTo>
                    <a:pt x="401" y="381"/>
                  </a:lnTo>
                  <a:lnTo>
                    <a:pt x="392" y="384"/>
                  </a:lnTo>
                  <a:lnTo>
                    <a:pt x="383" y="387"/>
                  </a:lnTo>
                  <a:lnTo>
                    <a:pt x="374" y="390"/>
                  </a:lnTo>
                  <a:close/>
                  <a:moveTo>
                    <a:pt x="359" y="576"/>
                  </a:moveTo>
                  <a:lnTo>
                    <a:pt x="352" y="576"/>
                  </a:lnTo>
                  <a:lnTo>
                    <a:pt x="344" y="574"/>
                  </a:lnTo>
                  <a:lnTo>
                    <a:pt x="338" y="569"/>
                  </a:lnTo>
                  <a:lnTo>
                    <a:pt x="332" y="565"/>
                  </a:lnTo>
                  <a:lnTo>
                    <a:pt x="328" y="560"/>
                  </a:lnTo>
                  <a:lnTo>
                    <a:pt x="324" y="553"/>
                  </a:lnTo>
                  <a:lnTo>
                    <a:pt x="322" y="546"/>
                  </a:lnTo>
                  <a:lnTo>
                    <a:pt x="322" y="538"/>
                  </a:lnTo>
                  <a:lnTo>
                    <a:pt x="322" y="532"/>
                  </a:lnTo>
                  <a:lnTo>
                    <a:pt x="324" y="524"/>
                  </a:lnTo>
                  <a:lnTo>
                    <a:pt x="328" y="518"/>
                  </a:lnTo>
                  <a:lnTo>
                    <a:pt x="332" y="513"/>
                  </a:lnTo>
                  <a:lnTo>
                    <a:pt x="338" y="508"/>
                  </a:lnTo>
                  <a:lnTo>
                    <a:pt x="344" y="504"/>
                  </a:lnTo>
                  <a:lnTo>
                    <a:pt x="352" y="502"/>
                  </a:lnTo>
                  <a:lnTo>
                    <a:pt x="359" y="501"/>
                  </a:lnTo>
                  <a:lnTo>
                    <a:pt x="367" y="502"/>
                  </a:lnTo>
                  <a:lnTo>
                    <a:pt x="373" y="504"/>
                  </a:lnTo>
                  <a:lnTo>
                    <a:pt x="380" y="508"/>
                  </a:lnTo>
                  <a:lnTo>
                    <a:pt x="385" y="513"/>
                  </a:lnTo>
                  <a:lnTo>
                    <a:pt x="390" y="518"/>
                  </a:lnTo>
                  <a:lnTo>
                    <a:pt x="393" y="524"/>
                  </a:lnTo>
                  <a:lnTo>
                    <a:pt x="396" y="532"/>
                  </a:lnTo>
                  <a:lnTo>
                    <a:pt x="397" y="538"/>
                  </a:lnTo>
                  <a:lnTo>
                    <a:pt x="396" y="546"/>
                  </a:lnTo>
                  <a:lnTo>
                    <a:pt x="393" y="553"/>
                  </a:lnTo>
                  <a:lnTo>
                    <a:pt x="390" y="560"/>
                  </a:lnTo>
                  <a:lnTo>
                    <a:pt x="385" y="565"/>
                  </a:lnTo>
                  <a:lnTo>
                    <a:pt x="380" y="569"/>
                  </a:lnTo>
                  <a:lnTo>
                    <a:pt x="373" y="574"/>
                  </a:lnTo>
                  <a:lnTo>
                    <a:pt x="367" y="576"/>
                  </a:lnTo>
                  <a:lnTo>
                    <a:pt x="359" y="576"/>
                  </a:lnTo>
                  <a:close/>
                  <a:moveTo>
                    <a:pt x="359" y="0"/>
                  </a:moveTo>
                  <a:lnTo>
                    <a:pt x="340" y="1"/>
                  </a:lnTo>
                  <a:lnTo>
                    <a:pt x="322" y="2"/>
                  </a:lnTo>
                  <a:lnTo>
                    <a:pt x="305" y="4"/>
                  </a:lnTo>
                  <a:lnTo>
                    <a:pt x="286" y="8"/>
                  </a:lnTo>
                  <a:lnTo>
                    <a:pt x="269" y="12"/>
                  </a:lnTo>
                  <a:lnTo>
                    <a:pt x="252" y="16"/>
                  </a:lnTo>
                  <a:lnTo>
                    <a:pt x="235" y="23"/>
                  </a:lnTo>
                  <a:lnTo>
                    <a:pt x="219" y="29"/>
                  </a:lnTo>
                  <a:lnTo>
                    <a:pt x="203" y="36"/>
                  </a:lnTo>
                  <a:lnTo>
                    <a:pt x="188" y="44"/>
                  </a:lnTo>
                  <a:lnTo>
                    <a:pt x="173" y="53"/>
                  </a:lnTo>
                  <a:lnTo>
                    <a:pt x="158" y="62"/>
                  </a:lnTo>
                  <a:lnTo>
                    <a:pt x="144" y="72"/>
                  </a:lnTo>
                  <a:lnTo>
                    <a:pt x="130" y="83"/>
                  </a:lnTo>
                  <a:lnTo>
                    <a:pt x="117" y="94"/>
                  </a:lnTo>
                  <a:lnTo>
                    <a:pt x="106" y="106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2" y="159"/>
                  </a:lnTo>
                  <a:lnTo>
                    <a:pt x="52" y="174"/>
                  </a:lnTo>
                  <a:lnTo>
                    <a:pt x="44" y="188"/>
                  </a:lnTo>
                  <a:lnTo>
                    <a:pt x="35" y="205"/>
                  </a:lnTo>
                  <a:lnTo>
                    <a:pt x="29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7"/>
                  </a:lnTo>
                  <a:lnTo>
                    <a:pt x="4" y="305"/>
                  </a:lnTo>
                  <a:lnTo>
                    <a:pt x="2" y="322"/>
                  </a:lnTo>
                  <a:lnTo>
                    <a:pt x="1" y="340"/>
                  </a:lnTo>
                  <a:lnTo>
                    <a:pt x="0" y="360"/>
                  </a:lnTo>
                  <a:lnTo>
                    <a:pt x="1" y="378"/>
                  </a:lnTo>
                  <a:lnTo>
                    <a:pt x="2" y="396"/>
                  </a:lnTo>
                  <a:lnTo>
                    <a:pt x="4" y="414"/>
                  </a:lnTo>
                  <a:lnTo>
                    <a:pt x="7" y="431"/>
                  </a:lnTo>
                  <a:lnTo>
                    <a:pt x="11" y="450"/>
                  </a:lnTo>
                  <a:lnTo>
                    <a:pt x="16" y="467"/>
                  </a:lnTo>
                  <a:lnTo>
                    <a:pt x="22" y="483"/>
                  </a:lnTo>
                  <a:lnTo>
                    <a:pt x="29" y="499"/>
                  </a:lnTo>
                  <a:lnTo>
                    <a:pt x="35" y="515"/>
                  </a:lnTo>
                  <a:lnTo>
                    <a:pt x="44" y="531"/>
                  </a:lnTo>
                  <a:lnTo>
                    <a:pt x="52" y="546"/>
                  </a:lnTo>
                  <a:lnTo>
                    <a:pt x="62" y="560"/>
                  </a:lnTo>
                  <a:lnTo>
                    <a:pt x="71" y="575"/>
                  </a:lnTo>
                  <a:lnTo>
                    <a:pt x="82" y="588"/>
                  </a:lnTo>
                  <a:lnTo>
                    <a:pt x="93" y="600"/>
                  </a:lnTo>
                  <a:lnTo>
                    <a:pt x="106" y="613"/>
                  </a:lnTo>
                  <a:lnTo>
                    <a:pt x="117" y="625"/>
                  </a:lnTo>
                  <a:lnTo>
                    <a:pt x="130" y="637"/>
                  </a:lnTo>
                  <a:lnTo>
                    <a:pt x="144" y="647"/>
                  </a:lnTo>
                  <a:lnTo>
                    <a:pt x="158" y="657"/>
                  </a:lnTo>
                  <a:lnTo>
                    <a:pt x="173" y="667"/>
                  </a:lnTo>
                  <a:lnTo>
                    <a:pt x="188" y="675"/>
                  </a:lnTo>
                  <a:lnTo>
                    <a:pt x="203" y="683"/>
                  </a:lnTo>
                  <a:lnTo>
                    <a:pt x="219" y="690"/>
                  </a:lnTo>
                  <a:lnTo>
                    <a:pt x="235" y="697"/>
                  </a:lnTo>
                  <a:lnTo>
                    <a:pt x="252" y="702"/>
                  </a:lnTo>
                  <a:lnTo>
                    <a:pt x="269" y="707"/>
                  </a:lnTo>
                  <a:lnTo>
                    <a:pt x="286" y="711"/>
                  </a:lnTo>
                  <a:lnTo>
                    <a:pt x="305" y="714"/>
                  </a:lnTo>
                  <a:lnTo>
                    <a:pt x="322" y="716"/>
                  </a:lnTo>
                  <a:lnTo>
                    <a:pt x="340" y="718"/>
                  </a:lnTo>
                  <a:lnTo>
                    <a:pt x="359" y="718"/>
                  </a:lnTo>
                  <a:lnTo>
                    <a:pt x="377" y="718"/>
                  </a:lnTo>
                  <a:lnTo>
                    <a:pt x="396" y="716"/>
                  </a:lnTo>
                  <a:lnTo>
                    <a:pt x="414" y="714"/>
                  </a:lnTo>
                  <a:lnTo>
                    <a:pt x="431" y="711"/>
                  </a:lnTo>
                  <a:lnTo>
                    <a:pt x="448" y="707"/>
                  </a:lnTo>
                  <a:lnTo>
                    <a:pt x="465" y="702"/>
                  </a:lnTo>
                  <a:lnTo>
                    <a:pt x="482" y="697"/>
                  </a:lnTo>
                  <a:lnTo>
                    <a:pt x="498" y="690"/>
                  </a:lnTo>
                  <a:lnTo>
                    <a:pt x="514" y="683"/>
                  </a:lnTo>
                  <a:lnTo>
                    <a:pt x="529" y="675"/>
                  </a:lnTo>
                  <a:lnTo>
                    <a:pt x="544" y="667"/>
                  </a:lnTo>
                  <a:lnTo>
                    <a:pt x="559" y="657"/>
                  </a:lnTo>
                  <a:lnTo>
                    <a:pt x="573" y="647"/>
                  </a:lnTo>
                  <a:lnTo>
                    <a:pt x="587" y="637"/>
                  </a:lnTo>
                  <a:lnTo>
                    <a:pt x="600" y="625"/>
                  </a:lnTo>
                  <a:lnTo>
                    <a:pt x="613" y="613"/>
                  </a:lnTo>
                  <a:lnTo>
                    <a:pt x="625" y="600"/>
                  </a:lnTo>
                  <a:lnTo>
                    <a:pt x="635" y="588"/>
                  </a:lnTo>
                  <a:lnTo>
                    <a:pt x="646" y="575"/>
                  </a:lnTo>
                  <a:lnTo>
                    <a:pt x="657" y="560"/>
                  </a:lnTo>
                  <a:lnTo>
                    <a:pt x="665" y="546"/>
                  </a:lnTo>
                  <a:lnTo>
                    <a:pt x="675" y="531"/>
                  </a:lnTo>
                  <a:lnTo>
                    <a:pt x="682" y="515"/>
                  </a:lnTo>
                  <a:lnTo>
                    <a:pt x="690" y="499"/>
                  </a:lnTo>
                  <a:lnTo>
                    <a:pt x="696" y="483"/>
                  </a:lnTo>
                  <a:lnTo>
                    <a:pt x="702" y="467"/>
                  </a:lnTo>
                  <a:lnTo>
                    <a:pt x="707" y="450"/>
                  </a:lnTo>
                  <a:lnTo>
                    <a:pt x="710" y="431"/>
                  </a:lnTo>
                  <a:lnTo>
                    <a:pt x="713" y="414"/>
                  </a:lnTo>
                  <a:lnTo>
                    <a:pt x="716" y="396"/>
                  </a:lnTo>
                  <a:lnTo>
                    <a:pt x="718" y="378"/>
                  </a:lnTo>
                  <a:lnTo>
                    <a:pt x="718" y="360"/>
                  </a:lnTo>
                  <a:lnTo>
                    <a:pt x="718" y="340"/>
                  </a:lnTo>
                  <a:lnTo>
                    <a:pt x="716" y="322"/>
                  </a:lnTo>
                  <a:lnTo>
                    <a:pt x="713" y="305"/>
                  </a:lnTo>
                  <a:lnTo>
                    <a:pt x="710" y="287"/>
                  </a:lnTo>
                  <a:lnTo>
                    <a:pt x="707" y="270"/>
                  </a:lnTo>
                  <a:lnTo>
                    <a:pt x="702" y="253"/>
                  </a:lnTo>
                  <a:lnTo>
                    <a:pt x="696" y="237"/>
                  </a:lnTo>
                  <a:lnTo>
                    <a:pt x="690" y="220"/>
                  </a:lnTo>
                  <a:lnTo>
                    <a:pt x="682" y="205"/>
                  </a:lnTo>
                  <a:lnTo>
                    <a:pt x="675" y="188"/>
                  </a:lnTo>
                  <a:lnTo>
                    <a:pt x="665" y="174"/>
                  </a:lnTo>
                  <a:lnTo>
                    <a:pt x="657" y="159"/>
                  </a:lnTo>
                  <a:lnTo>
                    <a:pt x="646" y="145"/>
                  </a:lnTo>
                  <a:lnTo>
                    <a:pt x="635" y="132"/>
                  </a:lnTo>
                  <a:lnTo>
                    <a:pt x="625" y="118"/>
                  </a:lnTo>
                  <a:lnTo>
                    <a:pt x="613" y="106"/>
                  </a:lnTo>
                  <a:lnTo>
                    <a:pt x="600" y="94"/>
                  </a:lnTo>
                  <a:lnTo>
                    <a:pt x="587" y="83"/>
                  </a:lnTo>
                  <a:lnTo>
                    <a:pt x="573" y="72"/>
                  </a:lnTo>
                  <a:lnTo>
                    <a:pt x="559" y="62"/>
                  </a:lnTo>
                  <a:lnTo>
                    <a:pt x="544" y="53"/>
                  </a:lnTo>
                  <a:lnTo>
                    <a:pt x="529" y="44"/>
                  </a:lnTo>
                  <a:lnTo>
                    <a:pt x="514" y="36"/>
                  </a:lnTo>
                  <a:lnTo>
                    <a:pt x="498" y="29"/>
                  </a:lnTo>
                  <a:lnTo>
                    <a:pt x="482" y="23"/>
                  </a:lnTo>
                  <a:lnTo>
                    <a:pt x="465" y="16"/>
                  </a:lnTo>
                  <a:lnTo>
                    <a:pt x="448" y="12"/>
                  </a:lnTo>
                  <a:lnTo>
                    <a:pt x="431" y="8"/>
                  </a:lnTo>
                  <a:lnTo>
                    <a:pt x="414" y="4"/>
                  </a:lnTo>
                  <a:lnTo>
                    <a:pt x="396" y="2"/>
                  </a:lnTo>
                  <a:lnTo>
                    <a:pt x="377" y="1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9E52097-584E-453E-904F-DD18650CC6A3}"/>
                </a:ext>
              </a:extLst>
            </p:cNvPr>
            <p:cNvSpPr/>
            <p:nvPr/>
          </p:nvSpPr>
          <p:spPr>
            <a:xfrm>
              <a:off x="1026488" y="2005781"/>
              <a:ext cx="153383" cy="216201"/>
            </a:xfrm>
            <a:prstGeom prst="rect">
              <a:avLst/>
            </a:prstGeom>
            <a:solidFill>
              <a:srgbClr val="8AC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93136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141D334-8434-4AF3-8014-473FA6D366EC}"/>
              </a:ext>
            </a:extLst>
          </p:cNvPr>
          <p:cNvSpPr/>
          <p:nvPr/>
        </p:nvSpPr>
        <p:spPr>
          <a:xfrm rot="16200000" flipH="1">
            <a:off x="5338916" y="-1"/>
            <a:ext cx="6853083" cy="685308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FAA3927-C37E-494D-8BDF-527955E5174E}"/>
              </a:ext>
            </a:extLst>
          </p:cNvPr>
          <p:cNvSpPr/>
          <p:nvPr/>
        </p:nvSpPr>
        <p:spPr>
          <a:xfrm rot="5400000" flipH="1">
            <a:off x="0" y="5372100"/>
            <a:ext cx="1485900" cy="148590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1F35E-9892-4FEF-BD72-1351948704E9}"/>
              </a:ext>
            </a:extLst>
          </p:cNvPr>
          <p:cNvSpPr txBox="1"/>
          <p:nvPr/>
        </p:nvSpPr>
        <p:spPr>
          <a:xfrm>
            <a:off x="3054350" y="5534253"/>
            <a:ext cx="60833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latin typeface="+mj-lt"/>
              </a:rPr>
              <a:t>THANK </a:t>
            </a:r>
            <a:r>
              <a:rPr lang="en-US" sz="5400" dirty="0">
                <a:latin typeface="+mj-lt"/>
              </a:rPr>
              <a:t>YOU!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F98AFC32-7F02-43CB-8485-44B6B2E13FCA}"/>
              </a:ext>
            </a:extLst>
          </p:cNvPr>
          <p:cNvSpPr/>
          <p:nvPr/>
        </p:nvSpPr>
        <p:spPr>
          <a:xfrm>
            <a:off x="3441592" y="190392"/>
            <a:ext cx="5308816" cy="5308816"/>
          </a:xfrm>
          <a:prstGeom prst="diamond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OWASP's bug bounty program | Bugcrowd">
            <a:extLst>
              <a:ext uri="{FF2B5EF4-FFF2-40B4-BE49-F238E27FC236}">
                <a16:creationId xmlns:a16="http://schemas.microsoft.com/office/drawing/2014/main" id="{1930908E-E9F0-4CAC-AB8B-AA633D511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4160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30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B01B2E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ern 03">
      <a:majorFont>
        <a:latin typeface="Segoe U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501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Umali, Kevin Bjorn V</dc:creator>
  <cp:keywords/>
  <dc:description/>
  <cp:lastModifiedBy>Umali, Kevin Bjorn V</cp:lastModifiedBy>
  <cp:revision>115</cp:revision>
  <dcterms:created xsi:type="dcterms:W3CDTF">2018-05-07T03:42:01Z</dcterms:created>
  <dcterms:modified xsi:type="dcterms:W3CDTF">2021-03-16T19:03:30Z</dcterms:modified>
  <cp:category/>
</cp:coreProperties>
</file>