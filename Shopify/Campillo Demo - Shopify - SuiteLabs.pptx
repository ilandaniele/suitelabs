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7" r:id="rId2"/>
    <p:sldId id="258" r:id="rId3"/>
    <p:sldId id="259" r:id="rId4"/>
    <p:sldId id="260" r:id="rId5"/>
    <p:sldId id="261" r:id="rId6"/>
    <p:sldId id="281" r:id="rId7"/>
    <p:sldId id="290" r:id="rId8"/>
    <p:sldId id="291" r:id="rId9"/>
    <p:sldId id="280" r:id="rId10"/>
    <p:sldId id="293" r:id="rId11"/>
    <p:sldId id="294" r:id="rId12"/>
    <p:sldId id="279" r:id="rId13"/>
    <p:sldId id="295" r:id="rId14"/>
    <p:sldId id="285" r:id="rId15"/>
    <p:sldId id="282" r:id="rId16"/>
    <p:sldId id="283" r:id="rId17"/>
    <p:sldId id="287" r:id="rId18"/>
    <p:sldId id="288" r:id="rId19"/>
    <p:sldId id="296" r:id="rId20"/>
    <p:sldId id="284" r:id="rId21"/>
    <p:sldId id="297" r:id="rId22"/>
    <p:sldId id="286" r:id="rId23"/>
  </p:sldIdLst>
  <p:sldSz cx="12192000" cy="6858000"/>
  <p:notesSz cx="6858000" cy="9144000"/>
  <p:embeddedFontLst>
    <p:embeddedFont>
      <p:font typeface="Montserrat" panose="00000500000000000000" pitchFamily="2" charset="0"/>
      <p:regular r:id="rId25"/>
      <p:bold r:id="rId26"/>
      <p:italic r:id="rId27"/>
      <p:boldItalic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12" d="100"/>
          <a:sy n="112" d="100"/>
        </p:scale>
        <p:origin x="62" y="-6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f559c1431f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f559c1431f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c989c60ecc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g2c989c60ecc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g2c989c60ecc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c989c60ec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2c989c60ec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g2c989c60ec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c989c60ecc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g2c989c60ecc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g2c989c60ecc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bfc38e11a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g2bfc38e11a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2bfc38e11a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6</a:t>
            </a:fld>
            <a:endParaRPr/>
          </a:p>
        </p:txBody>
      </p:sp>
    </p:spTree>
    <p:extLst>
      <p:ext uri="{BB962C8B-B14F-4D97-AF65-F5344CB8AC3E}">
        <p14:creationId xmlns:p14="http://schemas.microsoft.com/office/powerpoint/2010/main" val="3561093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7</a:t>
            </a:fld>
            <a:endParaRPr/>
          </a:p>
        </p:txBody>
      </p:sp>
    </p:spTree>
    <p:extLst>
      <p:ext uri="{BB962C8B-B14F-4D97-AF65-F5344CB8AC3E}">
        <p14:creationId xmlns:p14="http://schemas.microsoft.com/office/powerpoint/2010/main" val="182592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8</a:t>
            </a:fld>
            <a:endParaRPr/>
          </a:p>
        </p:txBody>
      </p:sp>
    </p:spTree>
    <p:extLst>
      <p:ext uri="{BB962C8B-B14F-4D97-AF65-F5344CB8AC3E}">
        <p14:creationId xmlns:p14="http://schemas.microsoft.com/office/powerpoint/2010/main" val="3915875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9</a:t>
            </a:fld>
            <a:endParaRPr/>
          </a:p>
        </p:txBody>
      </p:sp>
    </p:spTree>
    <p:extLst>
      <p:ext uri="{BB962C8B-B14F-4D97-AF65-F5344CB8AC3E}">
        <p14:creationId xmlns:p14="http://schemas.microsoft.com/office/powerpoint/2010/main" val="2349099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10</a:t>
            </a:fld>
            <a:endParaRPr/>
          </a:p>
        </p:txBody>
      </p:sp>
    </p:spTree>
    <p:extLst>
      <p:ext uri="{BB962C8B-B14F-4D97-AF65-F5344CB8AC3E}">
        <p14:creationId xmlns:p14="http://schemas.microsoft.com/office/powerpoint/2010/main" val="4236303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11</a:t>
            </a:fld>
            <a:endParaRPr/>
          </a:p>
        </p:txBody>
      </p:sp>
    </p:spTree>
    <p:extLst>
      <p:ext uri="{BB962C8B-B14F-4D97-AF65-F5344CB8AC3E}">
        <p14:creationId xmlns:p14="http://schemas.microsoft.com/office/powerpoint/2010/main" val="161662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12</a:t>
            </a:fld>
            <a:endParaRPr/>
          </a:p>
        </p:txBody>
      </p:sp>
    </p:spTree>
    <p:extLst>
      <p:ext uri="{BB962C8B-B14F-4D97-AF65-F5344CB8AC3E}">
        <p14:creationId xmlns:p14="http://schemas.microsoft.com/office/powerpoint/2010/main" val="261949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13</a:t>
            </a:fld>
            <a:endParaRPr/>
          </a:p>
        </p:txBody>
      </p:sp>
    </p:spTree>
    <p:extLst>
      <p:ext uri="{BB962C8B-B14F-4D97-AF65-F5344CB8AC3E}">
        <p14:creationId xmlns:p14="http://schemas.microsoft.com/office/powerpoint/2010/main" val="3375883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14</a:t>
            </a:fld>
            <a:endParaRPr/>
          </a:p>
        </p:txBody>
      </p:sp>
    </p:spTree>
    <p:extLst>
      <p:ext uri="{BB962C8B-B14F-4D97-AF65-F5344CB8AC3E}">
        <p14:creationId xmlns:p14="http://schemas.microsoft.com/office/powerpoint/2010/main" val="1048334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15</a:t>
            </a:fld>
            <a:endParaRPr/>
          </a:p>
        </p:txBody>
      </p:sp>
    </p:spTree>
    <p:extLst>
      <p:ext uri="{BB962C8B-B14F-4D97-AF65-F5344CB8AC3E}">
        <p14:creationId xmlns:p14="http://schemas.microsoft.com/office/powerpoint/2010/main" val="752652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16</a:t>
            </a:fld>
            <a:endParaRPr/>
          </a:p>
        </p:txBody>
      </p:sp>
    </p:spTree>
    <p:extLst>
      <p:ext uri="{BB962C8B-B14F-4D97-AF65-F5344CB8AC3E}">
        <p14:creationId xmlns:p14="http://schemas.microsoft.com/office/powerpoint/2010/main" val="600880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17</a:t>
            </a:fld>
            <a:endParaRPr/>
          </a:p>
        </p:txBody>
      </p:sp>
    </p:spTree>
    <p:extLst>
      <p:ext uri="{BB962C8B-B14F-4D97-AF65-F5344CB8AC3E}">
        <p14:creationId xmlns:p14="http://schemas.microsoft.com/office/powerpoint/2010/main" val="3846391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18</a:t>
            </a:fld>
            <a:endParaRPr/>
          </a:p>
        </p:txBody>
      </p:sp>
    </p:spTree>
    <p:extLst>
      <p:ext uri="{BB962C8B-B14F-4D97-AF65-F5344CB8AC3E}">
        <p14:creationId xmlns:p14="http://schemas.microsoft.com/office/powerpoint/2010/main" val="2893106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19</a:t>
            </a:fld>
            <a:endParaRPr/>
          </a:p>
        </p:txBody>
      </p:sp>
    </p:spTree>
    <p:extLst>
      <p:ext uri="{BB962C8B-B14F-4D97-AF65-F5344CB8AC3E}">
        <p14:creationId xmlns:p14="http://schemas.microsoft.com/office/powerpoint/2010/main" val="1567797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20</a:t>
            </a:fld>
            <a:endParaRPr/>
          </a:p>
        </p:txBody>
      </p:sp>
    </p:spTree>
    <p:extLst>
      <p:ext uri="{BB962C8B-B14F-4D97-AF65-F5344CB8AC3E}">
        <p14:creationId xmlns:p14="http://schemas.microsoft.com/office/powerpoint/2010/main" val="2987524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21</a:t>
            </a:fld>
            <a:endParaRPr/>
          </a:p>
        </p:txBody>
      </p:sp>
    </p:spTree>
    <p:extLst>
      <p:ext uri="{BB962C8B-B14F-4D97-AF65-F5344CB8AC3E}">
        <p14:creationId xmlns:p14="http://schemas.microsoft.com/office/powerpoint/2010/main" val="4173557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f4f57e98c2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1f4f57e98c2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g1f4f57e98c2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22</a:t>
            </a:fld>
            <a:endParaRPr/>
          </a:p>
        </p:txBody>
      </p:sp>
    </p:spTree>
    <p:extLst>
      <p:ext uri="{BB962C8B-B14F-4D97-AF65-F5344CB8AC3E}">
        <p14:creationId xmlns:p14="http://schemas.microsoft.com/office/powerpoint/2010/main" val="2609225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19" name="Google Shape;19;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3" name="Google Shape;23;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4" name="Google Shape;24;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0" name="Google Shape;30;p7"/>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9" name="Google Shape;39;p9"/>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0" name="Google Shape;40;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47" name="Google Shape;47;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6308875" y="1854927"/>
            <a:ext cx="5071200" cy="4064700"/>
          </a:xfrm>
          <a:prstGeom prst="rect">
            <a:avLst/>
          </a:prstGeom>
          <a:noFill/>
          <a:ln>
            <a:noFill/>
          </a:ln>
        </p:spPr>
        <p:txBody>
          <a:bodyPr spcFirstLastPara="1" wrap="square" lIns="0" tIns="0" rIns="0" bIns="0" anchor="t" anchorCtr="0">
            <a:noAutofit/>
          </a:bodyPr>
          <a:lstStyle>
            <a:lvl1pPr marL="457200" lvl="0" indent="-228600" algn="l" rtl="0">
              <a:lnSpc>
                <a:spcPct val="95000"/>
              </a:lnSpc>
              <a:spcBef>
                <a:spcPts val="700"/>
              </a:spcBef>
              <a:spcAft>
                <a:spcPts val="0"/>
              </a:spcAft>
              <a:buClr>
                <a:schemeClr val="dk1"/>
              </a:buClr>
              <a:buSzPts val="1900"/>
              <a:buNone/>
              <a:defRPr/>
            </a:lvl1pPr>
            <a:lvl2pPr marL="914400" lvl="1" indent="-349250" algn="l" rtl="0">
              <a:lnSpc>
                <a:spcPct val="95000"/>
              </a:lnSpc>
              <a:spcBef>
                <a:spcPts val="700"/>
              </a:spcBef>
              <a:spcAft>
                <a:spcPts val="0"/>
              </a:spcAft>
              <a:buClr>
                <a:schemeClr val="dk1"/>
              </a:buClr>
              <a:buSzPts val="1900"/>
              <a:buChar char="•"/>
              <a:defRPr/>
            </a:lvl2pPr>
            <a:lvl3pPr marL="1371600" lvl="2" indent="-361950" algn="l" rtl="0">
              <a:lnSpc>
                <a:spcPct val="95000"/>
              </a:lnSpc>
              <a:spcBef>
                <a:spcPts val="400"/>
              </a:spcBef>
              <a:spcAft>
                <a:spcPts val="0"/>
              </a:spcAft>
              <a:buClr>
                <a:schemeClr val="dk1"/>
              </a:buClr>
              <a:buSzPts val="2100"/>
              <a:buChar char="-"/>
              <a:defRPr/>
            </a:lvl3pPr>
            <a:lvl4pPr marL="1828800" lvl="3" indent="-349250" algn="l" rtl="0">
              <a:lnSpc>
                <a:spcPct val="95000"/>
              </a:lnSpc>
              <a:spcBef>
                <a:spcPts val="400"/>
              </a:spcBef>
              <a:spcAft>
                <a:spcPts val="0"/>
              </a:spcAft>
              <a:buClr>
                <a:schemeClr val="dk1"/>
              </a:buClr>
              <a:buSzPts val="1900"/>
              <a:buChar char="◦"/>
              <a:defRPr/>
            </a:lvl4pPr>
            <a:lvl5pPr marL="2286000" lvl="4" indent="-349250" algn="l" rtl="0">
              <a:lnSpc>
                <a:spcPct val="95000"/>
              </a:lnSpc>
              <a:spcBef>
                <a:spcPts val="400"/>
              </a:spcBef>
              <a:spcAft>
                <a:spcPts val="0"/>
              </a:spcAft>
              <a:buClr>
                <a:schemeClr val="dk1"/>
              </a:buClr>
              <a:buSzPts val="1900"/>
              <a:buChar char="•"/>
              <a:defRPr/>
            </a:lvl5pPr>
            <a:lvl6pPr marL="2743200" lvl="5" indent="-361950" algn="l" rtl="0">
              <a:lnSpc>
                <a:spcPct val="95000"/>
              </a:lnSpc>
              <a:spcBef>
                <a:spcPts val="400"/>
              </a:spcBef>
              <a:spcAft>
                <a:spcPts val="0"/>
              </a:spcAft>
              <a:buClr>
                <a:schemeClr val="dk1"/>
              </a:buClr>
              <a:buSzPts val="2100"/>
              <a:buChar char="-"/>
              <a:defRPr/>
            </a:lvl6pPr>
            <a:lvl7pPr marL="3200400" lvl="6" indent="-349250" algn="l" rtl="0">
              <a:lnSpc>
                <a:spcPct val="95000"/>
              </a:lnSpc>
              <a:spcBef>
                <a:spcPts val="4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sp>
        <p:nvSpPr>
          <p:cNvPr id="52" name="Google Shape;52;p13"/>
          <p:cNvSpPr txBox="1">
            <a:spLocks noGrp="1"/>
          </p:cNvSpPr>
          <p:nvPr>
            <p:ph type="title"/>
          </p:nvPr>
        </p:nvSpPr>
        <p:spPr>
          <a:xfrm>
            <a:off x="762000" y="508000"/>
            <a:ext cx="10671300" cy="822900"/>
          </a:xfrm>
          <a:prstGeom prst="rect">
            <a:avLst/>
          </a:prstGeom>
          <a:noFill/>
          <a:ln>
            <a:noFill/>
          </a:ln>
        </p:spPr>
        <p:txBody>
          <a:bodyPr spcFirstLastPara="1" wrap="square" lIns="0" tIns="0" rIns="0" bIns="0" anchor="ctr" anchorCtr="0">
            <a:noAutofit/>
          </a:bodyPr>
          <a:lstStyle>
            <a:lvl1pPr lvl="0" algn="l" rtl="0">
              <a:lnSpc>
                <a:spcPct val="95000"/>
              </a:lnSpc>
              <a:spcBef>
                <a:spcPts val="0"/>
              </a:spcBef>
              <a:spcAft>
                <a:spcPts val="0"/>
              </a:spcAft>
              <a:buClr>
                <a:schemeClr val="dk1"/>
              </a:buClr>
              <a:buSzPts val="1900"/>
              <a:buNone/>
              <a:defRPr/>
            </a:lvl1pPr>
            <a:lvl2pPr lvl="1" algn="l" rtl="0">
              <a:lnSpc>
                <a:spcPct val="100000"/>
              </a:lnSpc>
              <a:spcBef>
                <a:spcPts val="0"/>
              </a:spcBef>
              <a:spcAft>
                <a:spcPts val="0"/>
              </a:spcAft>
              <a:buSzPts val="1500"/>
              <a:buNone/>
              <a:defRPr/>
            </a:lvl2pPr>
            <a:lvl3pPr lvl="2" algn="l" rtl="0">
              <a:lnSpc>
                <a:spcPct val="100000"/>
              </a:lnSpc>
              <a:spcBef>
                <a:spcPts val="0"/>
              </a:spcBef>
              <a:spcAft>
                <a:spcPts val="0"/>
              </a:spcAft>
              <a:buSzPts val="1500"/>
              <a:buNone/>
              <a:defRPr/>
            </a:lvl3pPr>
            <a:lvl4pPr lvl="3" algn="l" rtl="0">
              <a:lnSpc>
                <a:spcPct val="100000"/>
              </a:lnSpc>
              <a:spcBef>
                <a:spcPts val="0"/>
              </a:spcBef>
              <a:spcAft>
                <a:spcPts val="0"/>
              </a:spcAft>
              <a:buSzPts val="1500"/>
              <a:buNone/>
              <a:defRPr/>
            </a:lvl4pPr>
            <a:lvl5pPr lvl="4" algn="l" rtl="0">
              <a:lnSpc>
                <a:spcPct val="100000"/>
              </a:lnSpc>
              <a:spcBef>
                <a:spcPts val="0"/>
              </a:spcBef>
              <a:spcAft>
                <a:spcPts val="0"/>
              </a:spcAft>
              <a:buSzPts val="1500"/>
              <a:buNone/>
              <a:defRPr/>
            </a:lvl5pPr>
            <a:lvl6pPr lvl="5" algn="l" rtl="0">
              <a:lnSpc>
                <a:spcPct val="100000"/>
              </a:lnSpc>
              <a:spcBef>
                <a:spcPts val="0"/>
              </a:spcBef>
              <a:spcAft>
                <a:spcPts val="0"/>
              </a:spcAft>
              <a:buSzPts val="1500"/>
              <a:buNone/>
              <a:defRPr/>
            </a:lvl6pPr>
            <a:lvl7pPr lvl="6" algn="l" rtl="0">
              <a:lnSpc>
                <a:spcPct val="100000"/>
              </a:lnSpc>
              <a:spcBef>
                <a:spcPts val="0"/>
              </a:spcBef>
              <a:spcAft>
                <a:spcPts val="0"/>
              </a:spcAft>
              <a:buSzPts val="1500"/>
              <a:buNone/>
              <a:defRPr/>
            </a:lvl7pPr>
            <a:lvl8pPr lvl="7" algn="l" rtl="0">
              <a:lnSpc>
                <a:spcPct val="100000"/>
              </a:lnSpc>
              <a:spcBef>
                <a:spcPts val="0"/>
              </a:spcBef>
              <a:spcAft>
                <a:spcPts val="0"/>
              </a:spcAft>
              <a:buSzPts val="1500"/>
              <a:buNone/>
              <a:defRPr/>
            </a:lvl8pPr>
            <a:lvl9pPr lvl="8" algn="l" rtl="0">
              <a:lnSpc>
                <a:spcPct val="100000"/>
              </a:lnSpc>
              <a:spcBef>
                <a:spcPts val="0"/>
              </a:spcBef>
              <a:spcAft>
                <a:spcPts val="0"/>
              </a:spcAft>
              <a:buSzPts val="1500"/>
              <a:buNone/>
              <a:defRPr/>
            </a:lvl9pPr>
          </a:lstStyle>
          <a:p>
            <a:endParaRPr/>
          </a:p>
        </p:txBody>
      </p:sp>
      <p:sp>
        <p:nvSpPr>
          <p:cNvPr id="53" name="Google Shape;53;p13"/>
          <p:cNvSpPr txBox="1">
            <a:spLocks noGrp="1"/>
          </p:cNvSpPr>
          <p:nvPr>
            <p:ph type="body" idx="2"/>
          </p:nvPr>
        </p:nvSpPr>
        <p:spPr>
          <a:xfrm>
            <a:off x="812801" y="1854927"/>
            <a:ext cx="5090100" cy="4064700"/>
          </a:xfrm>
          <a:prstGeom prst="rect">
            <a:avLst/>
          </a:prstGeom>
          <a:noFill/>
          <a:ln>
            <a:noFill/>
          </a:ln>
        </p:spPr>
        <p:txBody>
          <a:bodyPr spcFirstLastPara="1" wrap="square" lIns="0" tIns="0" rIns="0" bIns="0" anchor="t" anchorCtr="0">
            <a:noAutofit/>
          </a:bodyPr>
          <a:lstStyle>
            <a:lvl1pPr marL="457200" lvl="0" indent="-228600" algn="l" rtl="0">
              <a:lnSpc>
                <a:spcPct val="95000"/>
              </a:lnSpc>
              <a:spcBef>
                <a:spcPts val="700"/>
              </a:spcBef>
              <a:spcAft>
                <a:spcPts val="0"/>
              </a:spcAft>
              <a:buClr>
                <a:schemeClr val="dk1"/>
              </a:buClr>
              <a:buSzPts val="1900"/>
              <a:buNone/>
              <a:defRPr/>
            </a:lvl1pPr>
            <a:lvl2pPr marL="914400" lvl="1" indent="-349250" algn="l" rtl="0">
              <a:lnSpc>
                <a:spcPct val="95000"/>
              </a:lnSpc>
              <a:spcBef>
                <a:spcPts val="700"/>
              </a:spcBef>
              <a:spcAft>
                <a:spcPts val="0"/>
              </a:spcAft>
              <a:buClr>
                <a:schemeClr val="dk1"/>
              </a:buClr>
              <a:buSzPts val="1900"/>
              <a:buChar char="•"/>
              <a:defRPr/>
            </a:lvl2pPr>
            <a:lvl3pPr marL="1371600" lvl="2" indent="-361950" algn="l" rtl="0">
              <a:lnSpc>
                <a:spcPct val="95000"/>
              </a:lnSpc>
              <a:spcBef>
                <a:spcPts val="400"/>
              </a:spcBef>
              <a:spcAft>
                <a:spcPts val="0"/>
              </a:spcAft>
              <a:buClr>
                <a:schemeClr val="dk1"/>
              </a:buClr>
              <a:buSzPts val="2100"/>
              <a:buChar char="-"/>
              <a:defRPr/>
            </a:lvl3pPr>
            <a:lvl4pPr marL="1828800" lvl="3" indent="-349250" algn="l" rtl="0">
              <a:lnSpc>
                <a:spcPct val="95000"/>
              </a:lnSpc>
              <a:spcBef>
                <a:spcPts val="400"/>
              </a:spcBef>
              <a:spcAft>
                <a:spcPts val="0"/>
              </a:spcAft>
              <a:buClr>
                <a:schemeClr val="dk1"/>
              </a:buClr>
              <a:buSzPts val="1900"/>
              <a:buChar char="◦"/>
              <a:defRPr/>
            </a:lvl4pPr>
            <a:lvl5pPr marL="2286000" lvl="4" indent="-304800" algn="l" rtl="0">
              <a:lnSpc>
                <a:spcPct val="95000"/>
              </a:lnSpc>
              <a:spcBef>
                <a:spcPts val="400"/>
              </a:spcBef>
              <a:spcAft>
                <a:spcPts val="0"/>
              </a:spcAft>
              <a:buClr>
                <a:schemeClr val="dk1"/>
              </a:buClr>
              <a:buSzPts val="1200"/>
              <a:buChar char="•"/>
              <a:defRPr/>
            </a:lvl5pPr>
            <a:lvl6pPr marL="2743200" lvl="5" indent="-361950" algn="l" rtl="0">
              <a:lnSpc>
                <a:spcPct val="95000"/>
              </a:lnSpc>
              <a:spcBef>
                <a:spcPts val="400"/>
              </a:spcBef>
              <a:spcAft>
                <a:spcPts val="0"/>
              </a:spcAft>
              <a:buClr>
                <a:schemeClr val="dk1"/>
              </a:buClr>
              <a:buSzPts val="2100"/>
              <a:buChar char="-"/>
              <a:defRPr/>
            </a:lvl6pPr>
            <a:lvl7pPr marL="3200400" lvl="6" indent="-349250" algn="l" rtl="0">
              <a:lnSpc>
                <a:spcPct val="95000"/>
              </a:lnSpc>
              <a:spcBef>
                <a:spcPts val="400"/>
              </a:spcBef>
              <a:spcAft>
                <a:spcPts val="0"/>
              </a:spcAft>
              <a:buClr>
                <a:schemeClr val="dk1"/>
              </a:buClr>
              <a:buSzPts val="1900"/>
              <a:buChar char="◦"/>
              <a:defRPr/>
            </a:lvl7pPr>
            <a:lvl8pPr marL="3657600" lvl="7" indent="-349250" algn="l" rtl="0">
              <a:lnSpc>
                <a:spcPct val="90000"/>
              </a:lnSpc>
              <a:spcBef>
                <a:spcPts val="500"/>
              </a:spcBef>
              <a:spcAft>
                <a:spcPts val="0"/>
              </a:spcAft>
              <a:buClr>
                <a:schemeClr val="dk1"/>
              </a:buClr>
              <a:buSzPts val="1900"/>
              <a:buChar char="•"/>
              <a:defRPr/>
            </a:lvl8pPr>
            <a:lvl9pPr marL="4114800" lvl="8" indent="-349250" algn="l" rtl="0">
              <a:lnSpc>
                <a:spcPct val="90000"/>
              </a:lnSpc>
              <a:spcBef>
                <a:spcPts val="500"/>
              </a:spcBef>
              <a:spcAft>
                <a:spcPts val="0"/>
              </a:spcAft>
              <a:buClr>
                <a:schemeClr val="dk1"/>
              </a:buClr>
              <a:buSzPts val="1900"/>
              <a:buChar char="•"/>
              <a:defRPr/>
            </a:lvl9pPr>
          </a:lstStyle>
          <a:p>
            <a:endParaRPr/>
          </a:p>
        </p:txBody>
      </p:sp>
      <p:cxnSp>
        <p:nvCxnSpPr>
          <p:cNvPr id="54" name="Google Shape;54;p13"/>
          <p:cNvCxnSpPr/>
          <p:nvPr/>
        </p:nvCxnSpPr>
        <p:spPr>
          <a:xfrm>
            <a:off x="812800" y="1428064"/>
            <a:ext cx="10567500" cy="0"/>
          </a:xfrm>
          <a:prstGeom prst="straightConnector1">
            <a:avLst/>
          </a:prstGeom>
          <a:noFill/>
          <a:ln w="38100" cap="flat" cmpd="sng">
            <a:solidFill>
              <a:schemeClr val="dk1"/>
            </a:solidFill>
            <a:prstDash val="solid"/>
            <a:miter lim="800000"/>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2F4A"/>
        </a:solidFill>
        <a:effectLst/>
      </p:bgPr>
    </p:bg>
    <p:spTree>
      <p:nvGrpSpPr>
        <p:cNvPr id="1" name="Shape 62"/>
        <p:cNvGrpSpPr/>
        <p:nvPr/>
      </p:nvGrpSpPr>
      <p:grpSpPr>
        <a:xfrm>
          <a:off x="0" y="0"/>
          <a:ext cx="0" cy="0"/>
          <a:chOff x="0" y="0"/>
          <a:chExt cx="0" cy="0"/>
        </a:xfrm>
      </p:grpSpPr>
      <p:sp>
        <p:nvSpPr>
          <p:cNvPr id="63" name="Google Shape;63;p15"/>
          <p:cNvSpPr txBox="1"/>
          <p:nvPr/>
        </p:nvSpPr>
        <p:spPr>
          <a:xfrm>
            <a:off x="464344" y="460375"/>
            <a:ext cx="106710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a:solidFill>
                  <a:schemeClr val="lt2"/>
                </a:solidFill>
                <a:latin typeface="Verdana"/>
                <a:ea typeface="Verdana"/>
                <a:cs typeface="Verdana"/>
                <a:sym typeface="Verdana"/>
              </a:rPr>
              <a:t>Disclaimer</a:t>
            </a:r>
            <a:endParaRPr sz="5200">
              <a:solidFill>
                <a:schemeClr val="lt2"/>
              </a:solidFill>
              <a:latin typeface="Verdana"/>
              <a:ea typeface="Verdana"/>
              <a:cs typeface="Verdana"/>
              <a:sym typeface="Verdana"/>
            </a:endParaRPr>
          </a:p>
        </p:txBody>
      </p:sp>
      <p:sp>
        <p:nvSpPr>
          <p:cNvPr id="64" name="Google Shape;64;p15"/>
          <p:cNvSpPr txBox="1"/>
          <p:nvPr/>
        </p:nvSpPr>
        <p:spPr>
          <a:xfrm>
            <a:off x="464350" y="1750800"/>
            <a:ext cx="10671000" cy="2010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n" sz="1433">
                <a:solidFill>
                  <a:schemeClr val="lt2"/>
                </a:solidFill>
                <a:latin typeface="Montserrat"/>
                <a:ea typeface="Montserrat"/>
                <a:cs typeface="Montserrat"/>
                <a:sym typeface="Montserrat"/>
              </a:rPr>
              <a:t>This presentation may contain privileged or confidential information intended solely for the use of the individual or entity to whom it is addressed. If you are not the intended recipient, any dissemination, distribution, or copying of this presentation is strictly prohibited. Please notify the sender immediately and delete this presentation from your system. The views and opinions expressed herein are those of the author and do not necessarily reflect the official policy or position of SuiteLabs. Thank you for your cooperation.</a:t>
            </a:r>
            <a:endParaRPr sz="1600" u="sng">
              <a:solidFill>
                <a:schemeClr val="lt2"/>
              </a:solidFill>
              <a:latin typeface="Montserrat"/>
              <a:ea typeface="Montserrat"/>
              <a:cs typeface="Montserrat"/>
              <a:sym typeface="Montserrat"/>
            </a:endParaRPr>
          </a:p>
        </p:txBody>
      </p:sp>
      <p:pic>
        <p:nvPicPr>
          <p:cNvPr id="65" name="Google Shape;65;p15"/>
          <p:cNvPicPr preferRelativeResize="0"/>
          <p:nvPr/>
        </p:nvPicPr>
        <p:blipFill rotWithShape="1">
          <a:blip r:embed="rId3">
            <a:alphaModFix/>
          </a:blip>
          <a:srcRect l="18425" t="41612" r="24984" b="44229"/>
          <a:stretch/>
        </p:blipFill>
        <p:spPr>
          <a:xfrm>
            <a:off x="10161916" y="6054231"/>
            <a:ext cx="1940425" cy="6866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70"/>
        <p:cNvGrpSpPr/>
        <p:nvPr/>
      </p:nvGrpSpPr>
      <p:grpSpPr>
        <a:xfrm>
          <a:off x="0" y="0"/>
          <a:ext cx="0" cy="0"/>
          <a:chOff x="0" y="0"/>
          <a:chExt cx="0" cy="0"/>
        </a:xfrm>
      </p:grpSpPr>
      <p:pic>
        <p:nvPicPr>
          <p:cNvPr id="71" name="Google Shape;71;p16"/>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72" name="Google Shape;72;p16"/>
          <p:cNvSpPr txBox="1"/>
          <p:nvPr/>
        </p:nvSpPr>
        <p:spPr>
          <a:xfrm>
            <a:off x="762000" y="508000"/>
            <a:ext cx="106710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a:solidFill>
                  <a:srgbClr val="47413C"/>
                </a:solidFill>
                <a:latin typeface="Verdana"/>
                <a:ea typeface="Verdana"/>
                <a:cs typeface="Verdana"/>
                <a:sym typeface="Verdana"/>
              </a:rPr>
              <a:t>Customers</a:t>
            </a:r>
            <a:endParaRPr sz="5200">
              <a:solidFill>
                <a:srgbClr val="47413C"/>
              </a:solidFill>
              <a:latin typeface="Verdana"/>
              <a:ea typeface="Verdana"/>
              <a:cs typeface="Verdana"/>
              <a:sym typeface="Verdana"/>
            </a:endParaRPr>
          </a:p>
        </p:txBody>
      </p:sp>
      <p:pic>
        <p:nvPicPr>
          <p:cNvPr id="73" name="Google Shape;73;p16"/>
          <p:cNvPicPr preferRelativeResize="0"/>
          <p:nvPr/>
        </p:nvPicPr>
        <p:blipFill>
          <a:blip r:embed="rId4">
            <a:alphaModFix/>
          </a:blip>
          <a:stretch>
            <a:fillRect/>
          </a:stretch>
        </p:blipFill>
        <p:spPr>
          <a:xfrm>
            <a:off x="8537125" y="2381521"/>
            <a:ext cx="3019425" cy="704850"/>
          </a:xfrm>
          <a:prstGeom prst="rect">
            <a:avLst/>
          </a:prstGeom>
          <a:noFill/>
          <a:ln>
            <a:noFill/>
          </a:ln>
        </p:spPr>
      </p:pic>
      <p:pic>
        <p:nvPicPr>
          <p:cNvPr id="74" name="Google Shape;74;p16"/>
          <p:cNvPicPr preferRelativeResize="0"/>
          <p:nvPr/>
        </p:nvPicPr>
        <p:blipFill>
          <a:blip r:embed="rId5">
            <a:alphaModFix/>
          </a:blip>
          <a:stretch>
            <a:fillRect/>
          </a:stretch>
        </p:blipFill>
        <p:spPr>
          <a:xfrm>
            <a:off x="911400" y="2314225"/>
            <a:ext cx="1591600" cy="839442"/>
          </a:xfrm>
          <a:prstGeom prst="rect">
            <a:avLst/>
          </a:prstGeom>
          <a:noFill/>
          <a:ln>
            <a:noFill/>
          </a:ln>
        </p:spPr>
      </p:pic>
      <p:pic>
        <p:nvPicPr>
          <p:cNvPr id="75" name="Google Shape;75;p16"/>
          <p:cNvPicPr preferRelativeResize="0"/>
          <p:nvPr/>
        </p:nvPicPr>
        <p:blipFill>
          <a:blip r:embed="rId6">
            <a:alphaModFix/>
          </a:blip>
          <a:stretch>
            <a:fillRect/>
          </a:stretch>
        </p:blipFill>
        <p:spPr>
          <a:xfrm>
            <a:off x="4609702" y="4063685"/>
            <a:ext cx="3019425" cy="754856"/>
          </a:xfrm>
          <a:prstGeom prst="rect">
            <a:avLst/>
          </a:prstGeom>
          <a:noFill/>
          <a:ln>
            <a:noFill/>
          </a:ln>
        </p:spPr>
      </p:pic>
      <p:pic>
        <p:nvPicPr>
          <p:cNvPr id="76" name="Google Shape;76;p16"/>
          <p:cNvPicPr preferRelativeResize="0"/>
          <p:nvPr/>
        </p:nvPicPr>
        <p:blipFill>
          <a:blip r:embed="rId7">
            <a:alphaModFix/>
          </a:blip>
          <a:stretch>
            <a:fillRect/>
          </a:stretch>
        </p:blipFill>
        <p:spPr>
          <a:xfrm>
            <a:off x="911400" y="4187901"/>
            <a:ext cx="2542254" cy="506425"/>
          </a:xfrm>
          <a:prstGeom prst="rect">
            <a:avLst/>
          </a:prstGeom>
          <a:noFill/>
          <a:ln>
            <a:noFill/>
          </a:ln>
        </p:spPr>
      </p:pic>
      <p:pic>
        <p:nvPicPr>
          <p:cNvPr id="77" name="Google Shape;77;p16"/>
          <p:cNvPicPr preferRelativeResize="0"/>
          <p:nvPr/>
        </p:nvPicPr>
        <p:blipFill>
          <a:blip r:embed="rId8">
            <a:alphaModFix/>
          </a:blip>
          <a:stretch>
            <a:fillRect/>
          </a:stretch>
        </p:blipFill>
        <p:spPr>
          <a:xfrm>
            <a:off x="4091313" y="2491058"/>
            <a:ext cx="2857500" cy="485775"/>
          </a:xfrm>
          <a:prstGeom prst="rect">
            <a:avLst/>
          </a:prstGeom>
          <a:noFill/>
          <a:ln>
            <a:noFill/>
          </a:ln>
        </p:spPr>
      </p:pic>
      <p:pic>
        <p:nvPicPr>
          <p:cNvPr id="78" name="Google Shape;78;p16"/>
          <p:cNvPicPr preferRelativeResize="0"/>
          <p:nvPr/>
        </p:nvPicPr>
        <p:blipFill>
          <a:blip r:embed="rId9">
            <a:alphaModFix/>
          </a:blip>
          <a:stretch>
            <a:fillRect/>
          </a:stretch>
        </p:blipFill>
        <p:spPr>
          <a:xfrm>
            <a:off x="8785175" y="3921776"/>
            <a:ext cx="2716241" cy="10386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83"/>
        <p:cNvGrpSpPr/>
        <p:nvPr/>
      </p:nvGrpSpPr>
      <p:grpSpPr>
        <a:xfrm>
          <a:off x="0" y="0"/>
          <a:ext cx="0" cy="0"/>
          <a:chOff x="0" y="0"/>
          <a:chExt cx="0" cy="0"/>
        </a:xfrm>
      </p:grpSpPr>
      <p:pic>
        <p:nvPicPr>
          <p:cNvPr id="84" name="Google Shape;84;p17"/>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85" name="Google Shape;85;p17"/>
          <p:cNvSpPr txBox="1"/>
          <p:nvPr/>
        </p:nvSpPr>
        <p:spPr>
          <a:xfrm>
            <a:off x="762000" y="508000"/>
            <a:ext cx="106710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a:solidFill>
                  <a:srgbClr val="47413C"/>
                </a:solidFill>
                <a:latin typeface="Verdana"/>
                <a:ea typeface="Verdana"/>
                <a:cs typeface="Verdana"/>
                <a:sym typeface="Verdana"/>
              </a:rPr>
              <a:t>Consulting &amp; Development</a:t>
            </a:r>
            <a:endParaRPr sz="5200">
              <a:solidFill>
                <a:srgbClr val="47413C"/>
              </a:solidFill>
              <a:latin typeface="Verdana"/>
              <a:ea typeface="Verdana"/>
              <a:cs typeface="Verdana"/>
              <a:sym typeface="Verdana"/>
            </a:endParaRPr>
          </a:p>
        </p:txBody>
      </p:sp>
      <p:sp>
        <p:nvSpPr>
          <p:cNvPr id="86" name="Google Shape;86;p17"/>
          <p:cNvSpPr txBox="1"/>
          <p:nvPr/>
        </p:nvSpPr>
        <p:spPr>
          <a:xfrm>
            <a:off x="6255025" y="1571100"/>
            <a:ext cx="5594100" cy="5110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Resolution of functional issues </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Find the root cause of the issue, giving immediate solutions to it. Recommend improvements that can be applied to the site looking to minimize future instances of related issues.</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Clr>
                <a:schemeClr val="dk1"/>
              </a:buClr>
              <a:buSzPts val="1100"/>
              <a:buFont typeface="Arial"/>
              <a:buNone/>
            </a:pPr>
            <a:r>
              <a:rPr lang="en" sz="1833" b="1">
                <a:solidFill>
                  <a:srgbClr val="47413C"/>
                </a:solidFill>
                <a:latin typeface="Montserrat"/>
                <a:ea typeface="Montserrat"/>
                <a:cs typeface="Montserrat"/>
                <a:sym typeface="Montserrat"/>
              </a:rPr>
              <a:t>General SuiteCommerce Audit</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Clr>
                <a:schemeClr val="dk1"/>
              </a:buClr>
              <a:buSzPts val="1100"/>
              <a:buFont typeface="Arial"/>
              <a:buNone/>
            </a:pPr>
            <a:r>
              <a:rPr lang="en">
                <a:solidFill>
                  <a:srgbClr val="47413C"/>
                </a:solidFill>
                <a:latin typeface="Montserrat"/>
                <a:ea typeface="Montserrat"/>
                <a:cs typeface="Montserrat"/>
                <a:sym typeface="Montserrat"/>
              </a:rPr>
              <a:t>Analyze the site from multiple perspectives looking for ways to improve the performance, shopping experience, shopping flow, etc.</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p:txBody>
      </p:sp>
      <p:sp>
        <p:nvSpPr>
          <p:cNvPr id="87" name="Google Shape;87;p17"/>
          <p:cNvSpPr txBox="1"/>
          <p:nvPr/>
        </p:nvSpPr>
        <p:spPr>
          <a:xfrm>
            <a:off x="827100" y="1571100"/>
            <a:ext cx="5268900" cy="5286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eCommerce functional and technical consulting </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Help NetSuite users on activities related to website administration and management. Improve and automate repetitive tasks, seeking for an improved user productivity.</a:t>
            </a:r>
            <a:endParaRPr b="1">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b="1">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Amplify website functionalities</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Amplify functionalities of the website by implementing vertical solutions that enhance user experience.</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00" b="1">
                <a:solidFill>
                  <a:srgbClr val="47413C"/>
                </a:solidFill>
                <a:latin typeface="Montserrat"/>
                <a:ea typeface="Montserrat"/>
                <a:cs typeface="Montserrat"/>
                <a:sym typeface="Montserrat"/>
              </a:rPr>
              <a:t>Implementation of Custom Solutions</a:t>
            </a:r>
            <a:endParaRPr sz="1800">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Understand the specific business needs looking for the optimal solution, giving administrators an easy way to manage it and end users the best shopping experience.</a:t>
            </a:r>
            <a:endParaRPr>
              <a:solidFill>
                <a:srgbClr val="8B8580"/>
              </a:solidFill>
              <a:latin typeface="Montserrat"/>
              <a:ea typeface="Montserrat"/>
              <a:cs typeface="Montserrat"/>
              <a:sym typeface="Montserra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92"/>
        <p:cNvGrpSpPr/>
        <p:nvPr/>
      </p:nvGrpSpPr>
      <p:grpSpPr>
        <a:xfrm>
          <a:off x="0" y="0"/>
          <a:ext cx="0" cy="0"/>
          <a:chOff x="0" y="0"/>
          <a:chExt cx="0" cy="0"/>
        </a:xfrm>
      </p:grpSpPr>
      <p:pic>
        <p:nvPicPr>
          <p:cNvPr id="93" name="Google Shape;93;p18"/>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94" name="Google Shape;94;p18"/>
          <p:cNvSpPr txBox="1"/>
          <p:nvPr/>
        </p:nvSpPr>
        <p:spPr>
          <a:xfrm>
            <a:off x="762000" y="508000"/>
            <a:ext cx="106710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a:solidFill>
                  <a:srgbClr val="47413C"/>
                </a:solidFill>
                <a:latin typeface="Verdana"/>
                <a:ea typeface="Verdana"/>
                <a:cs typeface="Verdana"/>
                <a:sym typeface="Verdana"/>
              </a:rPr>
              <a:t>Growth &amp; SEO</a:t>
            </a:r>
            <a:endParaRPr sz="5200">
              <a:solidFill>
                <a:srgbClr val="47413C"/>
              </a:solidFill>
              <a:latin typeface="Verdana"/>
              <a:ea typeface="Verdana"/>
              <a:cs typeface="Verdana"/>
              <a:sym typeface="Verdana"/>
            </a:endParaRPr>
          </a:p>
        </p:txBody>
      </p:sp>
      <p:sp>
        <p:nvSpPr>
          <p:cNvPr id="95" name="Google Shape;95;p18"/>
          <p:cNvSpPr txBox="1"/>
          <p:nvPr/>
        </p:nvSpPr>
        <p:spPr>
          <a:xfrm>
            <a:off x="6255025" y="1571100"/>
            <a:ext cx="5594100" cy="5110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n" sz="1800" b="1">
                <a:solidFill>
                  <a:srgbClr val="47413C"/>
                </a:solidFill>
                <a:latin typeface="Montserrat"/>
                <a:ea typeface="Montserrat"/>
                <a:cs typeface="Montserrat"/>
                <a:sym typeface="Montserrat"/>
              </a:rPr>
              <a:t>Tracking Tools &amp; Third Parties</a:t>
            </a:r>
            <a:endParaRPr sz="1800">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Understand the specific business needs looking for the optimal solution, giving administrators an easy way to manage it and end users the best shopping experience.</a:t>
            </a:r>
            <a:br>
              <a:rPr lang="en">
                <a:solidFill>
                  <a:srgbClr val="47413C"/>
                </a:solidFill>
                <a:latin typeface="Montserrat"/>
                <a:ea typeface="Montserrat"/>
                <a:cs typeface="Montserrat"/>
                <a:sym typeface="Montserrat"/>
              </a:rPr>
            </a:b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Product Feeds</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Creation, optimization and maintenance of Product Feeds for Google, Facebook, and any other platform</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p:txBody>
      </p:sp>
      <p:sp>
        <p:nvSpPr>
          <p:cNvPr id="96" name="Google Shape;96;p18"/>
          <p:cNvSpPr txBox="1"/>
          <p:nvPr/>
        </p:nvSpPr>
        <p:spPr>
          <a:xfrm>
            <a:off x="827100" y="1571100"/>
            <a:ext cx="5268900" cy="5286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Search engine optimization (SEO)</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Analyze current situation &amp; define an SEO Growth strategy tailored for SuiteCommerce and its capabilities.</a:t>
            </a:r>
            <a:endParaRPr b="1">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b="1">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Conversion Rate Optimization</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Optimize the conversion rate of the site, oriented to improving ther user experience and increasing the ratio of visitors that turns into buyers.</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Growth Marketing </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Consulting oriented to Growth by utilizing tailored digital marketing strategies for SuiteCommerce.</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sz="1833" b="1">
                <a:solidFill>
                  <a:srgbClr val="47413C"/>
                </a:solidFill>
                <a:latin typeface="Montserrat"/>
                <a:ea typeface="Montserrat"/>
                <a:cs typeface="Montserrat"/>
                <a:sym typeface="Montserrat"/>
              </a:rPr>
              <a:t>Pay Per Click</a:t>
            </a:r>
            <a:endParaRPr sz="1833">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r>
              <a:rPr lang="en">
                <a:solidFill>
                  <a:srgbClr val="47413C"/>
                </a:solidFill>
                <a:latin typeface="Montserrat"/>
                <a:ea typeface="Montserrat"/>
                <a:cs typeface="Montserrat"/>
                <a:sym typeface="Montserrat"/>
              </a:rPr>
              <a:t>Strategic Consulting oriented to improving current results, or coming up with new strategies </a:t>
            </a: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a:p>
            <a:pPr marL="0" lvl="0" indent="0" algn="l" rtl="0">
              <a:lnSpc>
                <a:spcPct val="115000"/>
              </a:lnSpc>
              <a:spcBef>
                <a:spcPts val="600"/>
              </a:spcBef>
              <a:spcAft>
                <a:spcPts val="0"/>
              </a:spcAft>
              <a:buNone/>
            </a:pPr>
            <a:endParaRPr>
              <a:solidFill>
                <a:srgbClr val="47413C"/>
              </a:solidFill>
              <a:latin typeface="Montserrat"/>
              <a:ea typeface="Montserrat"/>
              <a:cs typeface="Montserrat"/>
              <a:sym typeface="Montserra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03" name="Google Shape;103;p19"/>
          <p:cNvSpPr txBox="1"/>
          <p:nvPr/>
        </p:nvSpPr>
        <p:spPr>
          <a:xfrm>
            <a:off x="464344" y="460375"/>
            <a:ext cx="106710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Shopify Proposal</a:t>
            </a:r>
            <a:endParaRPr sz="5200" dirty="0">
              <a:solidFill>
                <a:srgbClr val="47413C"/>
              </a:solidFill>
              <a:latin typeface="Verdana"/>
              <a:ea typeface="Verdana"/>
              <a:cs typeface="Verdana"/>
              <a:sym typeface="Verdana"/>
            </a:endParaRPr>
          </a:p>
        </p:txBody>
      </p:sp>
      <p:sp>
        <p:nvSpPr>
          <p:cNvPr id="104" name="Google Shape;104;p19"/>
          <p:cNvSpPr txBox="1"/>
          <p:nvPr/>
        </p:nvSpPr>
        <p:spPr>
          <a:xfrm>
            <a:off x="762000" y="1542575"/>
            <a:ext cx="10671000" cy="5110800"/>
          </a:xfrm>
          <a:prstGeom prst="rect">
            <a:avLst/>
          </a:prstGeom>
          <a:noFill/>
          <a:ln>
            <a:noFill/>
          </a:ln>
        </p:spPr>
        <p:txBody>
          <a:bodyPr spcFirstLastPara="1" wrap="square" lIns="0" tIns="0" rIns="0" bIns="0" anchor="t" anchorCtr="0">
            <a:noAutofit/>
          </a:bodyPr>
          <a:lstStyle/>
          <a:p>
            <a:pPr marL="457200" lvl="0" indent="-330200" algn="l" rtl="0">
              <a:lnSpc>
                <a:spcPct val="115000"/>
              </a:lnSpc>
              <a:spcBef>
                <a:spcPts val="600"/>
              </a:spcBef>
              <a:spcAft>
                <a:spcPts val="0"/>
              </a:spcAft>
              <a:buClr>
                <a:srgbClr val="47413C"/>
              </a:buClr>
              <a:buSzPts val="1600"/>
              <a:buFont typeface="Montserrat"/>
              <a:buAutoNum type="arabicPeriod"/>
            </a:pPr>
            <a:r>
              <a:rPr lang="en" sz="1600" b="1" dirty="0">
                <a:solidFill>
                  <a:srgbClr val="47413C"/>
                </a:solidFill>
                <a:latin typeface="Montserrat"/>
                <a:ea typeface="Montserrat"/>
                <a:cs typeface="Montserrat"/>
                <a:sym typeface="Montserrat"/>
              </a:rPr>
              <a:t>Online store with several features</a:t>
            </a:r>
          </a:p>
          <a:p>
            <a:pPr marL="457200" lvl="0" indent="-330200" algn="l" rtl="0">
              <a:lnSpc>
                <a:spcPct val="115000"/>
              </a:lnSpc>
              <a:spcBef>
                <a:spcPts val="600"/>
              </a:spcBef>
              <a:spcAft>
                <a:spcPts val="0"/>
              </a:spcAft>
              <a:buClr>
                <a:srgbClr val="47413C"/>
              </a:buClr>
              <a:buSzPts val="1600"/>
              <a:buFont typeface="Montserrat"/>
              <a:buAutoNum type="arabicPeriod"/>
            </a:pPr>
            <a:r>
              <a:rPr lang="en" sz="1600" b="1" dirty="0">
                <a:solidFill>
                  <a:srgbClr val="47413C"/>
                </a:solidFill>
                <a:latin typeface="Montserrat"/>
                <a:ea typeface="Montserrat"/>
                <a:cs typeface="Montserrat"/>
                <a:sym typeface="Montserrat"/>
              </a:rPr>
              <a:t>Easy to configure and Customize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611832" y="1399800"/>
            <a:ext cx="5366182" cy="545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a:solidFill>
                  <a:srgbClr val="47413C"/>
                </a:solidFill>
                <a:latin typeface="Montserrat"/>
                <a:ea typeface="Montserrat"/>
                <a:cs typeface="Montserrat"/>
                <a:sym typeface="Montserrat"/>
              </a:rPr>
              <a:t>Kiwi </a:t>
            </a:r>
            <a:r>
              <a:rPr lang="es-UY" sz="1600" b="1" dirty="0" err="1">
                <a:solidFill>
                  <a:srgbClr val="47413C"/>
                </a:solidFill>
                <a:latin typeface="Montserrat"/>
                <a:ea typeface="Montserrat"/>
                <a:cs typeface="Montserrat"/>
                <a:sym typeface="Montserrat"/>
              </a:rPr>
              <a:t>size</a:t>
            </a:r>
            <a:r>
              <a:rPr lang="es-UY" sz="1600" b="1" dirty="0">
                <a:solidFill>
                  <a:srgbClr val="47413C"/>
                </a:solidFill>
                <a:latin typeface="Montserrat"/>
                <a:ea typeface="Montserrat"/>
                <a:cs typeface="Montserrat"/>
                <a:sym typeface="Montserrat"/>
              </a:rPr>
              <a:t> chart </a:t>
            </a:r>
            <a:r>
              <a:rPr lang="es-UY" sz="1600" b="1" dirty="0" err="1">
                <a:solidFill>
                  <a:srgbClr val="47413C"/>
                </a:solidFill>
                <a:latin typeface="Montserrat"/>
                <a:ea typeface="Montserrat"/>
                <a:cs typeface="Montserrat"/>
                <a:sym typeface="Montserrat"/>
              </a:rPr>
              <a:t>integration</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tool</a:t>
            </a:r>
            <a:r>
              <a:rPr lang="es-UY" sz="1600" b="1" dirty="0">
                <a:solidFill>
                  <a:srgbClr val="47413C"/>
                </a:solidFill>
                <a:latin typeface="Montserrat"/>
                <a:ea typeface="Montserrat"/>
                <a:cs typeface="Montserrat"/>
                <a:sym typeface="Montserrat"/>
              </a:rPr>
              <a:t>:</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s-UY" dirty="0">
                <a:solidFill>
                  <a:srgbClr val="47413C"/>
                </a:solidFill>
                <a:latin typeface="Montserrat"/>
                <a:ea typeface="Montserrat"/>
                <a:cs typeface="Montserrat"/>
                <a:sym typeface="Montserrat"/>
              </a:rPr>
              <a:t>O</a:t>
            </a:r>
            <a:r>
              <a:rPr lang="en" dirty="0">
                <a:solidFill>
                  <a:srgbClr val="47413C"/>
                </a:solidFill>
                <a:latin typeface="Montserrat"/>
                <a:ea typeface="Montserrat"/>
                <a:cs typeface="Montserrat"/>
                <a:sym typeface="Montserrat"/>
              </a:rPr>
              <a:t>pen “size chart” button.</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Will show a table with different measures for this product. See xample below:</a:t>
            </a: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Products</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D2E41FD8-BF57-5F82-65AE-A43D0766E1D3}"/>
              </a:ext>
            </a:extLst>
          </p:cNvPr>
          <p:cNvPicPr>
            <a:picLocks noChangeAspect="1"/>
          </p:cNvPicPr>
          <p:nvPr/>
        </p:nvPicPr>
        <p:blipFill>
          <a:blip r:embed="rId4"/>
          <a:stretch>
            <a:fillRect/>
          </a:stretch>
        </p:blipFill>
        <p:spPr>
          <a:xfrm>
            <a:off x="6054938" y="521207"/>
            <a:ext cx="5977283" cy="3445211"/>
          </a:xfrm>
          <a:prstGeom prst="rect">
            <a:avLst/>
          </a:prstGeom>
        </p:spPr>
      </p:pic>
      <p:pic>
        <p:nvPicPr>
          <p:cNvPr id="6" name="Imagen 5">
            <a:extLst>
              <a:ext uri="{FF2B5EF4-FFF2-40B4-BE49-F238E27FC236}">
                <a16:creationId xmlns:a16="http://schemas.microsoft.com/office/drawing/2014/main" id="{202EC460-3210-6E90-1E03-E29AB375BDFE}"/>
              </a:ext>
            </a:extLst>
          </p:cNvPr>
          <p:cNvPicPr>
            <a:picLocks noChangeAspect="1"/>
          </p:cNvPicPr>
          <p:nvPr/>
        </p:nvPicPr>
        <p:blipFill>
          <a:blip r:embed="rId5"/>
          <a:stretch>
            <a:fillRect/>
          </a:stretch>
        </p:blipFill>
        <p:spPr>
          <a:xfrm>
            <a:off x="286420" y="2769333"/>
            <a:ext cx="5574884" cy="3503099"/>
          </a:xfrm>
          <a:prstGeom prst="rect">
            <a:avLst/>
          </a:prstGeom>
        </p:spPr>
      </p:pic>
    </p:spTree>
    <p:extLst>
      <p:ext uri="{BB962C8B-B14F-4D97-AF65-F5344CB8AC3E}">
        <p14:creationId xmlns:p14="http://schemas.microsoft.com/office/powerpoint/2010/main" val="71147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464348" y="1659002"/>
            <a:ext cx="11340556" cy="321230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Fitit</a:t>
            </a:r>
            <a:r>
              <a:rPr lang="es-UY" sz="1600" b="1" dirty="0">
                <a:solidFill>
                  <a:srgbClr val="47413C"/>
                </a:solidFill>
                <a:latin typeface="Montserrat"/>
                <a:ea typeface="Montserrat"/>
                <a:cs typeface="Montserrat"/>
                <a:sym typeface="Montserrat"/>
              </a:rPr>
              <a:t> AI:</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Take a photo from one cloth of your own of the same type you are trying to buy with an ID</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Select how the product fits you: regular, slim, oversized or cropped.</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Will give back the measure that fits you</a:t>
            </a:r>
          </a:p>
          <a:p>
            <a:pPr marL="139700" lvl="0" algn="l" rtl="0">
              <a:lnSpc>
                <a:spcPct val="115000"/>
              </a:lnSpc>
              <a:spcBef>
                <a:spcPts val="600"/>
              </a:spcBef>
              <a:spcAft>
                <a:spcPts val="0"/>
              </a:spcAft>
              <a:buClr>
                <a:srgbClr val="47413C"/>
              </a:buClr>
              <a:buSzPts val="1400"/>
            </a:pP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8" y="460375"/>
            <a:ext cx="10791915"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s-UY" sz="5200" dirty="0" err="1">
                <a:solidFill>
                  <a:srgbClr val="47413C"/>
                </a:solidFill>
                <a:latin typeface="Verdana"/>
                <a:ea typeface="Verdana"/>
                <a:cs typeface="Verdana"/>
                <a:sym typeface="Verdana"/>
              </a:rPr>
              <a:t>Returns</a:t>
            </a:r>
            <a:r>
              <a:rPr lang="es-UY" sz="5200" dirty="0">
                <a:solidFill>
                  <a:srgbClr val="47413C"/>
                </a:solidFill>
                <a:latin typeface="Verdana"/>
                <a:ea typeface="Verdana"/>
                <a:cs typeface="Verdana"/>
                <a:sym typeface="Verdana"/>
              </a:rPr>
              <a:t> </a:t>
            </a:r>
            <a:r>
              <a:rPr lang="es-UY" sz="5200" dirty="0" err="1">
                <a:solidFill>
                  <a:srgbClr val="47413C"/>
                </a:solidFill>
                <a:latin typeface="Verdana"/>
                <a:ea typeface="Verdana"/>
                <a:cs typeface="Verdana"/>
                <a:sym typeface="Verdana"/>
              </a:rPr>
              <a:t>Issue</a:t>
            </a:r>
            <a:r>
              <a:rPr lang="es-UY" sz="5200" dirty="0">
                <a:solidFill>
                  <a:srgbClr val="47413C"/>
                </a:solidFill>
                <a:latin typeface="Verdana"/>
                <a:ea typeface="Verdana"/>
                <a:cs typeface="Verdana"/>
                <a:sym typeface="Verdana"/>
              </a:rPr>
              <a:t> </a:t>
            </a:r>
            <a:r>
              <a:rPr lang="es-UY" sz="5200" dirty="0" err="1">
                <a:solidFill>
                  <a:srgbClr val="47413C"/>
                </a:solidFill>
                <a:latin typeface="Verdana"/>
                <a:ea typeface="Verdana"/>
                <a:cs typeface="Verdana"/>
                <a:sym typeface="Verdana"/>
              </a:rPr>
              <a:t>Solution</a:t>
            </a:r>
            <a:endParaRPr lang="es-UY" sz="5200" dirty="0">
              <a:solidFill>
                <a:srgbClr val="47413C"/>
              </a:solidFill>
              <a:latin typeface="Verdana"/>
              <a:ea typeface="Verdana"/>
              <a:cs typeface="Verdana"/>
              <a:sym typeface="Verdana"/>
            </a:endParaRPr>
          </a:p>
        </p:txBody>
      </p:sp>
      <p:sp>
        <p:nvSpPr>
          <p:cNvPr id="2" name="Google Shape;120;p21">
            <a:extLst>
              <a:ext uri="{FF2B5EF4-FFF2-40B4-BE49-F238E27FC236}">
                <a16:creationId xmlns:a16="http://schemas.microsoft.com/office/drawing/2014/main" id="{13D995B0-16C4-3E04-07EB-C967209D851F}"/>
              </a:ext>
            </a:extLst>
          </p:cNvPr>
          <p:cNvSpPr txBox="1"/>
          <p:nvPr/>
        </p:nvSpPr>
        <p:spPr>
          <a:xfrm>
            <a:off x="464347" y="1266224"/>
            <a:ext cx="11460985" cy="392778"/>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ES" sz="1600" b="1" dirty="0" err="1">
                <a:solidFill>
                  <a:srgbClr val="47413C"/>
                </a:solidFill>
                <a:latin typeface="Montserrat"/>
                <a:ea typeface="Montserrat"/>
                <a:cs typeface="Montserrat"/>
                <a:sym typeface="Montserrat"/>
              </a:rPr>
              <a:t>Measure</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your</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body</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size</a:t>
            </a:r>
            <a:r>
              <a:rPr lang="es-ES" sz="1600" b="1" dirty="0">
                <a:solidFill>
                  <a:srgbClr val="47413C"/>
                </a:solidFill>
                <a:latin typeface="Montserrat"/>
                <a:ea typeface="Montserrat"/>
                <a:cs typeface="Montserrat"/>
                <a:sym typeface="Montserrat"/>
              </a:rPr>
              <a:t> and </a:t>
            </a:r>
            <a:r>
              <a:rPr lang="es-ES" sz="1600" b="1" dirty="0" err="1">
                <a:solidFill>
                  <a:srgbClr val="47413C"/>
                </a:solidFill>
                <a:latin typeface="Montserrat"/>
                <a:ea typeface="Montserrat"/>
                <a:cs typeface="Montserrat"/>
                <a:sym typeface="Montserrat"/>
              </a:rPr>
              <a:t>know</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if</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product</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fits</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you</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with</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the</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following</a:t>
            </a:r>
            <a:r>
              <a:rPr lang="es-ES" sz="1600" b="1" dirty="0">
                <a:solidFill>
                  <a:srgbClr val="47413C"/>
                </a:solidFill>
                <a:latin typeface="Montserrat"/>
                <a:ea typeface="Montserrat"/>
                <a:cs typeface="Montserrat"/>
                <a:sym typeface="Montserrat"/>
              </a:rPr>
              <a:t> native </a:t>
            </a:r>
            <a:r>
              <a:rPr lang="es-ES" sz="1600" b="1" dirty="0" err="1">
                <a:solidFill>
                  <a:srgbClr val="47413C"/>
                </a:solidFill>
                <a:latin typeface="Montserrat"/>
                <a:ea typeface="Montserrat"/>
                <a:cs typeface="Montserrat"/>
                <a:sym typeface="Montserrat"/>
              </a:rPr>
              <a:t>integrations</a:t>
            </a:r>
            <a:r>
              <a:rPr lang="es-ES" sz="1600" b="1" dirty="0">
                <a:solidFill>
                  <a:srgbClr val="47413C"/>
                </a:solidFill>
                <a:latin typeface="Montserrat"/>
                <a:ea typeface="Montserrat"/>
                <a:cs typeface="Montserrat"/>
                <a:sym typeface="Montserrat"/>
              </a:rPr>
              <a:t> </a:t>
            </a:r>
            <a:r>
              <a:rPr lang="es-ES" sz="1600" b="1" dirty="0" err="1">
                <a:solidFill>
                  <a:srgbClr val="47413C"/>
                </a:solidFill>
                <a:latin typeface="Montserrat"/>
                <a:ea typeface="Montserrat"/>
                <a:cs typeface="Montserrat"/>
                <a:sym typeface="Montserrat"/>
              </a:rPr>
              <a:t>for</a:t>
            </a:r>
            <a:r>
              <a:rPr lang="es-ES" sz="1600" b="1" dirty="0">
                <a:solidFill>
                  <a:srgbClr val="47413C"/>
                </a:solidFill>
                <a:latin typeface="Montserrat"/>
                <a:ea typeface="Montserrat"/>
                <a:cs typeface="Montserrat"/>
                <a:sym typeface="Montserrat"/>
              </a:rPr>
              <a:t> Shopify</a:t>
            </a:r>
          </a:p>
        </p:txBody>
      </p:sp>
      <p:pic>
        <p:nvPicPr>
          <p:cNvPr id="4" name="Imagen 3">
            <a:extLst>
              <a:ext uri="{FF2B5EF4-FFF2-40B4-BE49-F238E27FC236}">
                <a16:creationId xmlns:a16="http://schemas.microsoft.com/office/drawing/2014/main" id="{B328D3CF-08A9-80CA-EF9D-3564EA681DE1}"/>
              </a:ext>
            </a:extLst>
          </p:cNvPr>
          <p:cNvPicPr>
            <a:picLocks noChangeAspect="1"/>
          </p:cNvPicPr>
          <p:nvPr/>
        </p:nvPicPr>
        <p:blipFill>
          <a:blip r:embed="rId4"/>
          <a:stretch>
            <a:fillRect/>
          </a:stretch>
        </p:blipFill>
        <p:spPr>
          <a:xfrm>
            <a:off x="255365" y="3684096"/>
            <a:ext cx="1858227" cy="2969381"/>
          </a:xfrm>
          <a:prstGeom prst="rect">
            <a:avLst/>
          </a:prstGeom>
        </p:spPr>
      </p:pic>
      <p:pic>
        <p:nvPicPr>
          <p:cNvPr id="6" name="Imagen 5">
            <a:extLst>
              <a:ext uri="{FF2B5EF4-FFF2-40B4-BE49-F238E27FC236}">
                <a16:creationId xmlns:a16="http://schemas.microsoft.com/office/drawing/2014/main" id="{5B1BAF74-4F94-F5B7-EA9A-ACD8FCB479B1}"/>
              </a:ext>
            </a:extLst>
          </p:cNvPr>
          <p:cNvPicPr>
            <a:picLocks noChangeAspect="1"/>
          </p:cNvPicPr>
          <p:nvPr/>
        </p:nvPicPr>
        <p:blipFill>
          <a:blip r:embed="rId5"/>
          <a:stretch>
            <a:fillRect/>
          </a:stretch>
        </p:blipFill>
        <p:spPr>
          <a:xfrm>
            <a:off x="2234021" y="3684096"/>
            <a:ext cx="3143756" cy="2327763"/>
          </a:xfrm>
          <a:prstGeom prst="rect">
            <a:avLst/>
          </a:prstGeom>
        </p:spPr>
      </p:pic>
      <p:pic>
        <p:nvPicPr>
          <p:cNvPr id="5" name="Imagen 4">
            <a:extLst>
              <a:ext uri="{FF2B5EF4-FFF2-40B4-BE49-F238E27FC236}">
                <a16:creationId xmlns:a16="http://schemas.microsoft.com/office/drawing/2014/main" id="{33F076AF-1ED1-FA9C-2C0E-CB5E1A18BC61}"/>
              </a:ext>
            </a:extLst>
          </p:cNvPr>
          <p:cNvPicPr>
            <a:picLocks noChangeAspect="1"/>
          </p:cNvPicPr>
          <p:nvPr/>
        </p:nvPicPr>
        <p:blipFill>
          <a:blip r:embed="rId6"/>
          <a:stretch>
            <a:fillRect/>
          </a:stretch>
        </p:blipFill>
        <p:spPr>
          <a:xfrm>
            <a:off x="5502538" y="3684096"/>
            <a:ext cx="2922084" cy="2125446"/>
          </a:xfrm>
          <a:prstGeom prst="rect">
            <a:avLst/>
          </a:prstGeom>
        </p:spPr>
      </p:pic>
      <p:pic>
        <p:nvPicPr>
          <p:cNvPr id="8" name="Imagen 7">
            <a:extLst>
              <a:ext uri="{FF2B5EF4-FFF2-40B4-BE49-F238E27FC236}">
                <a16:creationId xmlns:a16="http://schemas.microsoft.com/office/drawing/2014/main" id="{C42F18B3-C6E5-40D2-5CD9-2E6FB27C5114}"/>
              </a:ext>
            </a:extLst>
          </p:cNvPr>
          <p:cNvPicPr>
            <a:picLocks noChangeAspect="1"/>
          </p:cNvPicPr>
          <p:nvPr/>
        </p:nvPicPr>
        <p:blipFill>
          <a:blip r:embed="rId7"/>
          <a:stretch>
            <a:fillRect/>
          </a:stretch>
        </p:blipFill>
        <p:spPr>
          <a:xfrm>
            <a:off x="8540719" y="3684096"/>
            <a:ext cx="3384614" cy="1359758"/>
          </a:xfrm>
          <a:prstGeom prst="rect">
            <a:avLst/>
          </a:prstGeom>
        </p:spPr>
      </p:pic>
    </p:spTree>
    <p:extLst>
      <p:ext uri="{BB962C8B-B14F-4D97-AF65-F5344CB8AC3E}">
        <p14:creationId xmlns:p14="http://schemas.microsoft.com/office/powerpoint/2010/main" val="7989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464348" y="1338485"/>
            <a:ext cx="11340556" cy="321230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a:solidFill>
                  <a:srgbClr val="47413C"/>
                </a:solidFill>
                <a:latin typeface="Montserrat"/>
                <a:ea typeface="Montserrat"/>
                <a:cs typeface="Montserrat"/>
                <a:sym typeface="Montserrat"/>
              </a:rPr>
              <a:t>More </a:t>
            </a:r>
            <a:r>
              <a:rPr lang="es-UY" sz="1600" b="1" dirty="0" err="1">
                <a:solidFill>
                  <a:srgbClr val="47413C"/>
                </a:solidFill>
                <a:latin typeface="Montserrat"/>
                <a:ea typeface="Montserrat"/>
                <a:cs typeface="Montserrat"/>
                <a:sym typeface="Montserrat"/>
              </a:rPr>
              <a:t>features</a:t>
            </a:r>
            <a:endParaRPr lang="es-UY"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Also comes with a Size table measurement option</a:t>
            </a:r>
          </a:p>
          <a:p>
            <a:pPr marL="139700" lvl="0" algn="l" rtl="0">
              <a:lnSpc>
                <a:spcPct val="115000"/>
              </a:lnSpc>
              <a:spcBef>
                <a:spcPts val="600"/>
              </a:spcBef>
              <a:spcAft>
                <a:spcPts val="0"/>
              </a:spcAft>
              <a:buClr>
                <a:srgbClr val="47413C"/>
              </a:buClr>
              <a:buSzPts val="1400"/>
            </a:pPr>
            <a:r>
              <a:rPr lang="es-UY" sz="1400" b="1" dirty="0" err="1">
                <a:solidFill>
                  <a:srgbClr val="47413C"/>
                </a:solidFill>
                <a:latin typeface="Montserrat"/>
                <a:ea typeface="Montserrat"/>
                <a:cs typeface="Montserrat"/>
                <a:sym typeface="Montserrat"/>
              </a:rPr>
              <a:t>Costs</a:t>
            </a: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Costs: starting from 500 USD per site for initial amount of request, up to 2500 (or more) if it’s 1.000.000 requests.</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Which becomes a little bit expensive</a:t>
            </a:r>
          </a:p>
          <a:p>
            <a:pPr marL="457200" lvl="0" indent="-317500" algn="l" rtl="0">
              <a:lnSpc>
                <a:spcPct val="115000"/>
              </a:lnSpc>
              <a:spcBef>
                <a:spcPts val="600"/>
              </a:spcBef>
              <a:spcAft>
                <a:spcPts val="0"/>
              </a:spcAft>
              <a:buClr>
                <a:srgbClr val="47413C"/>
              </a:buClr>
              <a:buSzPts val="1400"/>
              <a:buFont typeface="Montserrat"/>
              <a:buChar char="●"/>
            </a:pPr>
            <a:endParaRPr lang="en" dirty="0">
              <a:solidFill>
                <a:srgbClr val="47413C"/>
              </a:solidFill>
              <a:latin typeface="Montserrat"/>
              <a:ea typeface="Montserrat"/>
              <a:cs typeface="Montserrat"/>
              <a:sym typeface="Montserrat"/>
            </a:endParaRPr>
          </a:p>
          <a:p>
            <a:pPr marL="139700" lvl="0" algn="l" rtl="0">
              <a:lnSpc>
                <a:spcPct val="115000"/>
              </a:lnSpc>
              <a:spcBef>
                <a:spcPts val="600"/>
              </a:spcBef>
              <a:spcAft>
                <a:spcPts val="0"/>
              </a:spcAft>
              <a:buClr>
                <a:srgbClr val="47413C"/>
              </a:buClr>
              <a:buSzPts val="1400"/>
            </a:pP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8" y="460375"/>
            <a:ext cx="10791915"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s-UY" sz="5200" dirty="0" err="1">
                <a:solidFill>
                  <a:srgbClr val="47413C"/>
                </a:solidFill>
                <a:latin typeface="Verdana"/>
                <a:ea typeface="Verdana"/>
                <a:cs typeface="Verdana"/>
                <a:sym typeface="Verdana"/>
              </a:rPr>
              <a:t>Fifit</a:t>
            </a:r>
            <a:r>
              <a:rPr lang="es-UY" sz="5200" dirty="0">
                <a:solidFill>
                  <a:srgbClr val="47413C"/>
                </a:solidFill>
                <a:latin typeface="Verdana"/>
                <a:ea typeface="Verdana"/>
                <a:cs typeface="Verdana"/>
                <a:sym typeface="Verdana"/>
              </a:rPr>
              <a:t> AI</a:t>
            </a:r>
          </a:p>
        </p:txBody>
      </p:sp>
      <p:pic>
        <p:nvPicPr>
          <p:cNvPr id="7" name="Imagen 6">
            <a:extLst>
              <a:ext uri="{FF2B5EF4-FFF2-40B4-BE49-F238E27FC236}">
                <a16:creationId xmlns:a16="http://schemas.microsoft.com/office/drawing/2014/main" id="{88D29810-D0D5-B19D-7A65-C5D043D3D208}"/>
              </a:ext>
            </a:extLst>
          </p:cNvPr>
          <p:cNvPicPr>
            <a:picLocks noChangeAspect="1"/>
          </p:cNvPicPr>
          <p:nvPr/>
        </p:nvPicPr>
        <p:blipFill>
          <a:blip r:embed="rId4"/>
          <a:stretch>
            <a:fillRect/>
          </a:stretch>
        </p:blipFill>
        <p:spPr>
          <a:xfrm>
            <a:off x="906351" y="3175783"/>
            <a:ext cx="4953954" cy="3365633"/>
          </a:xfrm>
          <a:prstGeom prst="rect">
            <a:avLst/>
          </a:prstGeom>
        </p:spPr>
      </p:pic>
      <p:pic>
        <p:nvPicPr>
          <p:cNvPr id="10" name="Imagen 9">
            <a:extLst>
              <a:ext uri="{FF2B5EF4-FFF2-40B4-BE49-F238E27FC236}">
                <a16:creationId xmlns:a16="http://schemas.microsoft.com/office/drawing/2014/main" id="{845B7DFA-5B39-E4B0-49C0-FBE54A0440DD}"/>
              </a:ext>
            </a:extLst>
          </p:cNvPr>
          <p:cNvPicPr>
            <a:picLocks noChangeAspect="1"/>
          </p:cNvPicPr>
          <p:nvPr/>
        </p:nvPicPr>
        <p:blipFill>
          <a:blip r:embed="rId5"/>
          <a:stretch>
            <a:fillRect/>
          </a:stretch>
        </p:blipFill>
        <p:spPr>
          <a:xfrm>
            <a:off x="6773700" y="3175783"/>
            <a:ext cx="3402510" cy="3315749"/>
          </a:xfrm>
          <a:prstGeom prst="rect">
            <a:avLst/>
          </a:prstGeom>
        </p:spPr>
      </p:pic>
    </p:spTree>
    <p:extLst>
      <p:ext uri="{BB962C8B-B14F-4D97-AF65-F5344CB8AC3E}">
        <p14:creationId xmlns:p14="http://schemas.microsoft.com/office/powerpoint/2010/main" val="2860396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84047" y="1454664"/>
            <a:ext cx="6292317" cy="1818888"/>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400" b="1" dirty="0" err="1">
                <a:solidFill>
                  <a:srgbClr val="47413C"/>
                </a:solidFill>
                <a:latin typeface="Montserrat"/>
                <a:ea typeface="Montserrat"/>
                <a:cs typeface="Montserrat"/>
                <a:sym typeface="Montserrat"/>
              </a:rPr>
              <a:t>Size</a:t>
            </a:r>
            <a:r>
              <a:rPr lang="es-UY" sz="1400" b="1" dirty="0">
                <a:solidFill>
                  <a:srgbClr val="47413C"/>
                </a:solidFill>
                <a:latin typeface="Montserrat"/>
                <a:ea typeface="Montserrat"/>
                <a:cs typeface="Montserrat"/>
                <a:sym typeface="Montserrat"/>
              </a:rPr>
              <a:t> </a:t>
            </a:r>
            <a:r>
              <a:rPr lang="es-UY" sz="1400" b="1" dirty="0" err="1">
                <a:solidFill>
                  <a:srgbClr val="47413C"/>
                </a:solidFill>
                <a:latin typeface="Montserrat"/>
                <a:ea typeface="Montserrat"/>
                <a:cs typeface="Montserrat"/>
                <a:sym typeface="Montserrat"/>
              </a:rPr>
              <a:t>bay</a:t>
            </a:r>
            <a:r>
              <a:rPr lang="es-UY" sz="1400" b="1" dirty="0">
                <a:solidFill>
                  <a:srgbClr val="47413C"/>
                </a:solidFill>
                <a:latin typeface="Montserrat"/>
                <a:ea typeface="Montserrat"/>
                <a:cs typeface="Montserrat"/>
                <a:sym typeface="Montserrat"/>
              </a:rPr>
              <a:t>:</a:t>
            </a: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Set your height, body weight and years</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Adjust bust, waist and hip</a:t>
            </a:r>
          </a:p>
          <a:p>
            <a:pPr marL="139700" lvl="0" algn="l" rtl="0">
              <a:lnSpc>
                <a:spcPct val="115000"/>
              </a:lnSpc>
              <a:spcBef>
                <a:spcPts val="600"/>
              </a:spcBef>
              <a:spcAft>
                <a:spcPts val="0"/>
              </a:spcAft>
              <a:buClr>
                <a:srgbClr val="47413C"/>
              </a:buClr>
              <a:buSzPts val="1400"/>
            </a:pP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9" y="460375"/>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s-UY" sz="5200" dirty="0" err="1">
                <a:solidFill>
                  <a:srgbClr val="47413C"/>
                </a:solidFill>
                <a:latin typeface="Verdana"/>
                <a:ea typeface="Verdana"/>
                <a:cs typeface="Verdana"/>
                <a:sym typeface="Verdana"/>
              </a:rPr>
              <a:t>Returns</a:t>
            </a:r>
            <a:r>
              <a:rPr lang="es-UY" sz="5200" dirty="0">
                <a:solidFill>
                  <a:srgbClr val="47413C"/>
                </a:solidFill>
                <a:latin typeface="Verdana"/>
                <a:ea typeface="Verdana"/>
                <a:cs typeface="Verdana"/>
                <a:sym typeface="Verdana"/>
              </a:rPr>
              <a:t> </a:t>
            </a:r>
            <a:r>
              <a:rPr lang="es-UY" sz="5200" dirty="0" err="1">
                <a:solidFill>
                  <a:srgbClr val="47413C"/>
                </a:solidFill>
                <a:latin typeface="Verdana"/>
                <a:ea typeface="Verdana"/>
                <a:cs typeface="Verdana"/>
                <a:sym typeface="Verdana"/>
              </a:rPr>
              <a:t>Issue</a:t>
            </a:r>
            <a:r>
              <a:rPr lang="es-UY" sz="5200" dirty="0">
                <a:solidFill>
                  <a:srgbClr val="47413C"/>
                </a:solidFill>
                <a:latin typeface="Verdana"/>
                <a:ea typeface="Verdana"/>
                <a:cs typeface="Verdana"/>
                <a:sym typeface="Verdana"/>
              </a:rPr>
              <a:t> </a:t>
            </a:r>
            <a:r>
              <a:rPr lang="es-UY" sz="5200" dirty="0" err="1">
                <a:solidFill>
                  <a:srgbClr val="47413C"/>
                </a:solidFill>
                <a:latin typeface="Verdana"/>
                <a:ea typeface="Verdana"/>
                <a:cs typeface="Verdana"/>
                <a:sym typeface="Verdana"/>
              </a:rPr>
              <a:t>solution</a:t>
            </a:r>
            <a:endParaRPr lang="es-UY" sz="5200" dirty="0">
              <a:solidFill>
                <a:srgbClr val="47413C"/>
              </a:solidFill>
              <a:latin typeface="Verdana"/>
              <a:ea typeface="Verdana"/>
              <a:cs typeface="Verdana"/>
              <a:sym typeface="Verdana"/>
            </a:endParaRPr>
          </a:p>
        </p:txBody>
      </p:sp>
      <p:pic>
        <p:nvPicPr>
          <p:cNvPr id="10" name="Imagen 9">
            <a:extLst>
              <a:ext uri="{FF2B5EF4-FFF2-40B4-BE49-F238E27FC236}">
                <a16:creationId xmlns:a16="http://schemas.microsoft.com/office/drawing/2014/main" id="{4A668B2B-FAFB-DAF2-7446-57BB595D6E06}"/>
              </a:ext>
            </a:extLst>
          </p:cNvPr>
          <p:cNvPicPr>
            <a:picLocks noChangeAspect="1"/>
          </p:cNvPicPr>
          <p:nvPr/>
        </p:nvPicPr>
        <p:blipFill>
          <a:blip r:embed="rId4"/>
          <a:stretch>
            <a:fillRect/>
          </a:stretch>
        </p:blipFill>
        <p:spPr>
          <a:xfrm>
            <a:off x="464349" y="2813716"/>
            <a:ext cx="3220918" cy="3583909"/>
          </a:xfrm>
          <a:prstGeom prst="rect">
            <a:avLst/>
          </a:prstGeom>
        </p:spPr>
      </p:pic>
      <p:pic>
        <p:nvPicPr>
          <p:cNvPr id="12" name="Imagen 11">
            <a:extLst>
              <a:ext uri="{FF2B5EF4-FFF2-40B4-BE49-F238E27FC236}">
                <a16:creationId xmlns:a16="http://schemas.microsoft.com/office/drawing/2014/main" id="{46D4EF13-20B8-1D74-4C9A-448B0980BFE3}"/>
              </a:ext>
            </a:extLst>
          </p:cNvPr>
          <p:cNvPicPr>
            <a:picLocks noChangeAspect="1"/>
          </p:cNvPicPr>
          <p:nvPr/>
        </p:nvPicPr>
        <p:blipFill>
          <a:blip r:embed="rId5"/>
          <a:stretch>
            <a:fillRect/>
          </a:stretch>
        </p:blipFill>
        <p:spPr>
          <a:xfrm>
            <a:off x="3765569" y="2809767"/>
            <a:ext cx="3220918" cy="3587858"/>
          </a:xfrm>
          <a:prstGeom prst="rect">
            <a:avLst/>
          </a:prstGeom>
        </p:spPr>
      </p:pic>
      <p:pic>
        <p:nvPicPr>
          <p:cNvPr id="14" name="Imagen 13">
            <a:extLst>
              <a:ext uri="{FF2B5EF4-FFF2-40B4-BE49-F238E27FC236}">
                <a16:creationId xmlns:a16="http://schemas.microsoft.com/office/drawing/2014/main" id="{2381E727-2250-9589-513D-59E65EF18545}"/>
              </a:ext>
            </a:extLst>
          </p:cNvPr>
          <p:cNvPicPr>
            <a:picLocks noChangeAspect="1"/>
          </p:cNvPicPr>
          <p:nvPr/>
        </p:nvPicPr>
        <p:blipFill>
          <a:blip r:embed="rId6"/>
          <a:stretch>
            <a:fillRect/>
          </a:stretch>
        </p:blipFill>
        <p:spPr>
          <a:xfrm>
            <a:off x="7066789" y="2809767"/>
            <a:ext cx="3220918" cy="3584488"/>
          </a:xfrm>
          <a:prstGeom prst="rect">
            <a:avLst/>
          </a:prstGeom>
        </p:spPr>
      </p:pic>
    </p:spTree>
    <p:extLst>
      <p:ext uri="{BB962C8B-B14F-4D97-AF65-F5344CB8AC3E}">
        <p14:creationId xmlns:p14="http://schemas.microsoft.com/office/powerpoint/2010/main" val="407839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84047" y="1454664"/>
            <a:ext cx="11183113" cy="2550408"/>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400" b="1" dirty="0">
                <a:solidFill>
                  <a:srgbClr val="47413C"/>
                </a:solidFill>
                <a:latin typeface="Montserrat"/>
                <a:ea typeface="Montserrat"/>
                <a:cs typeface="Montserrat"/>
                <a:sym typeface="Montserrat"/>
              </a:rPr>
              <a:t>More </a:t>
            </a:r>
            <a:r>
              <a:rPr lang="es-UY" sz="1400" b="1" dirty="0" err="1">
                <a:solidFill>
                  <a:srgbClr val="47413C"/>
                </a:solidFill>
                <a:latin typeface="Montserrat"/>
                <a:ea typeface="Montserrat"/>
                <a:cs typeface="Montserrat"/>
                <a:sym typeface="Montserrat"/>
              </a:rPr>
              <a:t>features</a:t>
            </a:r>
            <a:r>
              <a:rPr lang="es-UY" sz="1400" b="1" dirty="0">
                <a:solidFill>
                  <a:srgbClr val="47413C"/>
                </a:solidFill>
                <a:latin typeface="Montserrat"/>
                <a:ea typeface="Montserrat"/>
                <a:cs typeface="Montserrat"/>
                <a:sym typeface="Montserrat"/>
              </a:rPr>
              <a:t>:</a:t>
            </a: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Also foot measurement for footwear.</a:t>
            </a:r>
          </a:p>
          <a:p>
            <a:pPr marL="457200" lvl="0" indent="-317500" algn="l" rtl="0">
              <a:lnSpc>
                <a:spcPct val="115000"/>
              </a:lnSpc>
              <a:spcBef>
                <a:spcPts val="600"/>
              </a:spcBef>
              <a:spcAft>
                <a:spcPts val="0"/>
              </a:spcAft>
              <a:buClr>
                <a:srgbClr val="47413C"/>
              </a:buClr>
              <a:buSzPts val="1400"/>
              <a:buFont typeface="Montserrat"/>
              <a:buChar char="●"/>
            </a:pPr>
            <a:r>
              <a:rPr lang="en-US" dirty="0">
                <a:solidFill>
                  <a:srgbClr val="47413C"/>
                </a:solidFill>
                <a:latin typeface="Montserrat"/>
                <a:ea typeface="Montserrat"/>
                <a:cs typeface="Montserrat"/>
                <a:sym typeface="Montserrat"/>
              </a:rPr>
              <a:t>Users enter the brand of footwear they usually wear and the type of footwear they wear most. </a:t>
            </a:r>
          </a:p>
          <a:p>
            <a:pPr marL="457200" lvl="0" indent="-317500" algn="l" rtl="0">
              <a:lnSpc>
                <a:spcPct val="115000"/>
              </a:lnSpc>
              <a:spcBef>
                <a:spcPts val="600"/>
              </a:spcBef>
              <a:spcAft>
                <a:spcPts val="0"/>
              </a:spcAft>
              <a:buClr>
                <a:srgbClr val="47413C"/>
              </a:buClr>
              <a:buSzPts val="1400"/>
              <a:buFont typeface="Montserrat"/>
              <a:buChar char="●"/>
            </a:pPr>
            <a:r>
              <a:rPr lang="en-US" dirty="0">
                <a:solidFill>
                  <a:srgbClr val="47413C"/>
                </a:solidFill>
                <a:latin typeface="Montserrat"/>
                <a:ea typeface="Montserrat"/>
                <a:cs typeface="Montserrat"/>
                <a:sym typeface="Montserrat"/>
              </a:rPr>
              <a:t>With this information, the tool understands the shape of the user's foot, be it narrow, regular or wide. </a:t>
            </a:r>
          </a:p>
          <a:p>
            <a:pPr marL="457200" lvl="0" indent="-317500" algn="l" rtl="0">
              <a:lnSpc>
                <a:spcPct val="115000"/>
              </a:lnSpc>
              <a:spcBef>
                <a:spcPts val="600"/>
              </a:spcBef>
              <a:spcAft>
                <a:spcPts val="0"/>
              </a:spcAft>
              <a:buClr>
                <a:srgbClr val="47413C"/>
              </a:buClr>
              <a:buSzPts val="1400"/>
              <a:buFont typeface="Montserrat"/>
              <a:buChar char="●"/>
            </a:pPr>
            <a:r>
              <a:rPr lang="en-US" dirty="0">
                <a:solidFill>
                  <a:srgbClr val="47413C"/>
                </a:solidFill>
                <a:latin typeface="Montserrat"/>
                <a:ea typeface="Montserrat"/>
                <a:cs typeface="Montserrat"/>
                <a:sym typeface="Montserrat"/>
              </a:rPr>
              <a:t>Next, the user enters their size which is cross referenced with product measurements to generate size recommendations.</a:t>
            </a:r>
          </a:p>
          <a:p>
            <a:pPr marL="457200" lvl="0" indent="-317500" algn="l" rtl="0">
              <a:lnSpc>
                <a:spcPct val="115000"/>
              </a:lnSpc>
              <a:spcBef>
                <a:spcPts val="600"/>
              </a:spcBef>
              <a:spcAft>
                <a:spcPts val="0"/>
              </a:spcAft>
              <a:buClr>
                <a:srgbClr val="47413C"/>
              </a:buClr>
              <a:buSzPts val="1400"/>
              <a:buFont typeface="Montserrat"/>
              <a:buChar char="●"/>
            </a:pPr>
            <a:r>
              <a:rPr lang="en-US" dirty="0">
                <a:solidFill>
                  <a:srgbClr val="47413C"/>
                </a:solidFill>
                <a:latin typeface="Montserrat"/>
                <a:ea typeface="Montserrat"/>
                <a:cs typeface="Montserrat"/>
                <a:sym typeface="Montserrat"/>
              </a:rPr>
              <a:t>Measurements table also available (see picture)</a:t>
            </a: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9" y="460375"/>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s-UY" sz="5200" dirty="0" err="1">
                <a:solidFill>
                  <a:srgbClr val="47413C"/>
                </a:solidFill>
                <a:latin typeface="Verdana"/>
                <a:ea typeface="Verdana"/>
                <a:cs typeface="Verdana"/>
                <a:sym typeface="Verdana"/>
              </a:rPr>
              <a:t>Size</a:t>
            </a:r>
            <a:r>
              <a:rPr lang="es-UY" sz="5200" dirty="0">
                <a:solidFill>
                  <a:srgbClr val="47413C"/>
                </a:solidFill>
                <a:latin typeface="Verdana"/>
                <a:ea typeface="Verdana"/>
                <a:cs typeface="Verdana"/>
                <a:sym typeface="Verdana"/>
              </a:rPr>
              <a:t> </a:t>
            </a:r>
            <a:r>
              <a:rPr lang="es-UY" sz="5200" dirty="0" err="1">
                <a:solidFill>
                  <a:srgbClr val="47413C"/>
                </a:solidFill>
                <a:latin typeface="Verdana"/>
                <a:ea typeface="Verdana"/>
                <a:cs typeface="Verdana"/>
                <a:sym typeface="Verdana"/>
              </a:rPr>
              <a:t>bay</a:t>
            </a:r>
            <a:endParaRPr lang="es-UY"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E1996F61-9435-2679-F7D0-7B469D2B0531}"/>
              </a:ext>
            </a:extLst>
          </p:cNvPr>
          <p:cNvPicPr>
            <a:picLocks noChangeAspect="1"/>
          </p:cNvPicPr>
          <p:nvPr/>
        </p:nvPicPr>
        <p:blipFill>
          <a:blip r:embed="rId4"/>
          <a:stretch>
            <a:fillRect/>
          </a:stretch>
        </p:blipFill>
        <p:spPr>
          <a:xfrm>
            <a:off x="5886094" y="3320844"/>
            <a:ext cx="3661029" cy="3332475"/>
          </a:xfrm>
          <a:prstGeom prst="rect">
            <a:avLst/>
          </a:prstGeom>
        </p:spPr>
      </p:pic>
    </p:spTree>
    <p:extLst>
      <p:ext uri="{BB962C8B-B14F-4D97-AF65-F5344CB8AC3E}">
        <p14:creationId xmlns:p14="http://schemas.microsoft.com/office/powerpoint/2010/main" val="302266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464349" y="1363912"/>
            <a:ext cx="11183113" cy="2550408"/>
          </a:xfrm>
          <a:prstGeom prst="rect">
            <a:avLst/>
          </a:prstGeom>
          <a:noFill/>
          <a:ln>
            <a:noFill/>
          </a:ln>
        </p:spPr>
        <p:txBody>
          <a:bodyPr spcFirstLastPara="1" wrap="square" lIns="0" tIns="0" rIns="0" bIns="0" anchor="t" anchorCtr="0">
            <a:noAutofit/>
          </a:bodyPr>
          <a:lstStyle/>
          <a:p>
            <a:pPr marL="139700" lvl="0" algn="l" rtl="0">
              <a:lnSpc>
                <a:spcPct val="115000"/>
              </a:lnSpc>
              <a:spcBef>
                <a:spcPts val="600"/>
              </a:spcBef>
              <a:spcAft>
                <a:spcPts val="0"/>
              </a:spcAft>
              <a:buClr>
                <a:srgbClr val="47413C"/>
              </a:buClr>
              <a:buSzPts val="1400"/>
            </a:pPr>
            <a:r>
              <a:rPr lang="en-US" b="1" dirty="0">
                <a:solidFill>
                  <a:srgbClr val="47413C"/>
                </a:solidFill>
                <a:latin typeface="Montserrat"/>
                <a:ea typeface="Montserrat"/>
                <a:cs typeface="Montserrat"/>
                <a:sym typeface="Montserrat"/>
              </a:rPr>
              <a:t>Another feature</a:t>
            </a:r>
            <a:r>
              <a:rPr lang="en-US" dirty="0">
                <a:solidFill>
                  <a:srgbClr val="47413C"/>
                </a:solidFill>
                <a:latin typeface="Montserrat"/>
                <a:ea typeface="Montserrat"/>
                <a:cs typeface="Montserrat"/>
                <a:sym typeface="Montserrat"/>
              </a:rPr>
              <a:t>:</a:t>
            </a:r>
          </a:p>
          <a:p>
            <a:pPr marL="457200" lvl="0" indent="-317500" algn="l" rtl="0">
              <a:lnSpc>
                <a:spcPct val="115000"/>
              </a:lnSpc>
              <a:spcBef>
                <a:spcPts val="600"/>
              </a:spcBef>
              <a:spcAft>
                <a:spcPts val="0"/>
              </a:spcAft>
              <a:buClr>
                <a:srgbClr val="47413C"/>
              </a:buClr>
              <a:buSzPts val="1400"/>
              <a:buFont typeface="Montserrat"/>
              <a:buChar char="●"/>
            </a:pPr>
            <a:r>
              <a:rPr lang="en-US" dirty="0">
                <a:solidFill>
                  <a:srgbClr val="47413C"/>
                </a:solidFill>
                <a:latin typeface="Montserrat"/>
                <a:ea typeface="Montserrat"/>
                <a:cs typeface="Montserrat"/>
                <a:sym typeface="Montserrat"/>
              </a:rPr>
              <a:t>Users can upload photos of their outfits to find products with same patterns, colors textures and styles</a:t>
            </a:r>
          </a:p>
          <a:p>
            <a:pPr marL="139700" lvl="0" algn="l" rtl="0">
              <a:lnSpc>
                <a:spcPct val="115000"/>
              </a:lnSpc>
              <a:spcBef>
                <a:spcPts val="600"/>
              </a:spcBef>
              <a:spcAft>
                <a:spcPts val="0"/>
              </a:spcAft>
              <a:buClr>
                <a:srgbClr val="47413C"/>
              </a:buClr>
              <a:buSzPts val="1400"/>
            </a:pPr>
            <a:r>
              <a:rPr lang="en-US" b="1" dirty="0">
                <a:solidFill>
                  <a:srgbClr val="47413C"/>
                </a:solidFill>
                <a:latin typeface="Montserrat"/>
                <a:ea typeface="Montserrat"/>
                <a:cs typeface="Montserrat"/>
                <a:sym typeface="Montserrat"/>
              </a:rPr>
              <a:t>Costs</a:t>
            </a:r>
            <a:r>
              <a:rPr lang="en-US" dirty="0">
                <a:solidFill>
                  <a:srgbClr val="47413C"/>
                </a:solidFill>
                <a:latin typeface="Montserrat"/>
                <a:ea typeface="Montserrat"/>
                <a:cs typeface="Montserrat"/>
                <a:sym typeface="Montserrat"/>
              </a:rPr>
              <a:t>:</a:t>
            </a: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Initial plan of 400 orders and 80000 pageviews with cost of 160 USD for setup and 116 monthly.</a:t>
            </a:r>
          </a:p>
          <a:p>
            <a:pPr marL="139700" lvl="0" algn="l" rtl="0">
              <a:lnSpc>
                <a:spcPct val="115000"/>
              </a:lnSpc>
              <a:spcBef>
                <a:spcPts val="600"/>
              </a:spcBef>
              <a:spcAft>
                <a:spcPts val="0"/>
              </a:spcAft>
              <a:buClr>
                <a:srgbClr val="47413C"/>
              </a:buClr>
              <a:buSzPts val="1400"/>
            </a:pPr>
            <a:endParaRPr lang="en" dirty="0">
              <a:solidFill>
                <a:srgbClr val="47413C"/>
              </a:solidFill>
              <a:latin typeface="Montserrat"/>
              <a:ea typeface="Montserrat"/>
              <a:cs typeface="Montserrat"/>
              <a:sym typeface="Montserrat"/>
            </a:endParaRPr>
          </a:p>
        </p:txBody>
      </p:sp>
      <p:sp>
        <p:nvSpPr>
          <p:cNvPr id="123" name="Google Shape;123;p21"/>
          <p:cNvSpPr txBox="1"/>
          <p:nvPr/>
        </p:nvSpPr>
        <p:spPr>
          <a:xfrm>
            <a:off x="543007"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s-UY" sz="5200" dirty="0" err="1">
                <a:solidFill>
                  <a:srgbClr val="47413C"/>
                </a:solidFill>
                <a:latin typeface="Verdana"/>
                <a:ea typeface="Verdana"/>
                <a:cs typeface="Verdana"/>
                <a:sym typeface="Verdana"/>
              </a:rPr>
              <a:t>Size</a:t>
            </a:r>
            <a:r>
              <a:rPr lang="es-UY" sz="5200" dirty="0">
                <a:solidFill>
                  <a:srgbClr val="47413C"/>
                </a:solidFill>
                <a:latin typeface="Verdana"/>
                <a:ea typeface="Verdana"/>
                <a:cs typeface="Verdana"/>
                <a:sym typeface="Verdana"/>
              </a:rPr>
              <a:t> Bay</a:t>
            </a:r>
          </a:p>
        </p:txBody>
      </p:sp>
      <p:pic>
        <p:nvPicPr>
          <p:cNvPr id="3" name="Imagen 2">
            <a:extLst>
              <a:ext uri="{FF2B5EF4-FFF2-40B4-BE49-F238E27FC236}">
                <a16:creationId xmlns:a16="http://schemas.microsoft.com/office/drawing/2014/main" id="{9F1CB126-0E84-DDE2-91F8-C33F7B88BE84}"/>
              </a:ext>
            </a:extLst>
          </p:cNvPr>
          <p:cNvPicPr>
            <a:picLocks noChangeAspect="1"/>
          </p:cNvPicPr>
          <p:nvPr/>
        </p:nvPicPr>
        <p:blipFill>
          <a:blip r:embed="rId4"/>
          <a:stretch>
            <a:fillRect/>
          </a:stretch>
        </p:blipFill>
        <p:spPr>
          <a:xfrm>
            <a:off x="1361359" y="2909336"/>
            <a:ext cx="1991611" cy="3437219"/>
          </a:xfrm>
          <a:prstGeom prst="rect">
            <a:avLst/>
          </a:prstGeom>
        </p:spPr>
      </p:pic>
      <p:pic>
        <p:nvPicPr>
          <p:cNvPr id="5" name="Imagen 4">
            <a:extLst>
              <a:ext uri="{FF2B5EF4-FFF2-40B4-BE49-F238E27FC236}">
                <a16:creationId xmlns:a16="http://schemas.microsoft.com/office/drawing/2014/main" id="{C567484C-C7D3-1930-7F50-D6E7DAF2CEE4}"/>
              </a:ext>
            </a:extLst>
          </p:cNvPr>
          <p:cNvPicPr>
            <a:picLocks noChangeAspect="1"/>
          </p:cNvPicPr>
          <p:nvPr/>
        </p:nvPicPr>
        <p:blipFill>
          <a:blip r:embed="rId5"/>
          <a:stretch>
            <a:fillRect/>
          </a:stretch>
        </p:blipFill>
        <p:spPr>
          <a:xfrm>
            <a:off x="3832008" y="2909336"/>
            <a:ext cx="2003254" cy="3437219"/>
          </a:xfrm>
          <a:prstGeom prst="rect">
            <a:avLst/>
          </a:prstGeom>
        </p:spPr>
      </p:pic>
      <p:pic>
        <p:nvPicPr>
          <p:cNvPr id="7" name="Imagen 6">
            <a:extLst>
              <a:ext uri="{FF2B5EF4-FFF2-40B4-BE49-F238E27FC236}">
                <a16:creationId xmlns:a16="http://schemas.microsoft.com/office/drawing/2014/main" id="{CD79E0D2-7C69-C03B-AEBF-8936AC11C2EC}"/>
              </a:ext>
            </a:extLst>
          </p:cNvPr>
          <p:cNvPicPr>
            <a:picLocks noChangeAspect="1"/>
          </p:cNvPicPr>
          <p:nvPr/>
        </p:nvPicPr>
        <p:blipFill>
          <a:blip r:embed="rId6"/>
          <a:stretch>
            <a:fillRect/>
          </a:stretch>
        </p:blipFill>
        <p:spPr>
          <a:xfrm>
            <a:off x="6314300" y="2902308"/>
            <a:ext cx="2017707" cy="3458126"/>
          </a:xfrm>
          <a:prstGeom prst="rect">
            <a:avLst/>
          </a:prstGeom>
        </p:spPr>
      </p:pic>
    </p:spTree>
    <p:extLst>
      <p:ext uri="{BB962C8B-B14F-4D97-AF65-F5344CB8AC3E}">
        <p14:creationId xmlns:p14="http://schemas.microsoft.com/office/powerpoint/2010/main" val="429406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464349" y="1399800"/>
            <a:ext cx="6465000" cy="545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Option</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to</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add</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several</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markets</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Select to which markets an specific product will be available</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Different taxes can be defined for each of the markets by product.</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Different payment methods can be defined (see picture below)</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As an example, you can use “Pants” product which is only available in USA</a:t>
            </a: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9" y="460375"/>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Markets management</a:t>
            </a:r>
            <a:endParaRPr sz="5200" dirty="0">
              <a:solidFill>
                <a:srgbClr val="47413C"/>
              </a:solidFill>
              <a:latin typeface="Verdana"/>
              <a:ea typeface="Verdana"/>
              <a:cs typeface="Verdana"/>
              <a:sym typeface="Verdana"/>
            </a:endParaRPr>
          </a:p>
        </p:txBody>
      </p:sp>
      <p:pic>
        <p:nvPicPr>
          <p:cNvPr id="8" name="Imagen 7">
            <a:extLst>
              <a:ext uri="{FF2B5EF4-FFF2-40B4-BE49-F238E27FC236}">
                <a16:creationId xmlns:a16="http://schemas.microsoft.com/office/drawing/2014/main" id="{D986C247-57CC-7D2C-CF0F-ADBDD039DB0C}"/>
              </a:ext>
            </a:extLst>
          </p:cNvPr>
          <p:cNvPicPr>
            <a:picLocks noChangeAspect="1"/>
          </p:cNvPicPr>
          <p:nvPr/>
        </p:nvPicPr>
        <p:blipFill>
          <a:blip r:embed="rId4"/>
          <a:stretch>
            <a:fillRect/>
          </a:stretch>
        </p:blipFill>
        <p:spPr>
          <a:xfrm>
            <a:off x="7697995" y="3692516"/>
            <a:ext cx="4225708" cy="2091934"/>
          </a:xfrm>
          <a:prstGeom prst="rect">
            <a:avLst/>
          </a:prstGeom>
        </p:spPr>
      </p:pic>
      <p:pic>
        <p:nvPicPr>
          <p:cNvPr id="10" name="Imagen 9">
            <a:extLst>
              <a:ext uri="{FF2B5EF4-FFF2-40B4-BE49-F238E27FC236}">
                <a16:creationId xmlns:a16="http://schemas.microsoft.com/office/drawing/2014/main" id="{8C3326A8-0A79-1CC1-FC87-E7854D3E7A77}"/>
              </a:ext>
            </a:extLst>
          </p:cNvPr>
          <p:cNvPicPr>
            <a:picLocks noChangeAspect="1"/>
          </p:cNvPicPr>
          <p:nvPr/>
        </p:nvPicPr>
        <p:blipFill>
          <a:blip r:embed="rId5"/>
          <a:stretch>
            <a:fillRect/>
          </a:stretch>
        </p:blipFill>
        <p:spPr>
          <a:xfrm>
            <a:off x="3309953" y="3703272"/>
            <a:ext cx="4299500" cy="2337688"/>
          </a:xfrm>
          <a:prstGeom prst="rect">
            <a:avLst/>
          </a:prstGeom>
        </p:spPr>
      </p:pic>
      <p:pic>
        <p:nvPicPr>
          <p:cNvPr id="3" name="Imagen 2">
            <a:extLst>
              <a:ext uri="{FF2B5EF4-FFF2-40B4-BE49-F238E27FC236}">
                <a16:creationId xmlns:a16="http://schemas.microsoft.com/office/drawing/2014/main" id="{0C786810-7BB3-33F6-2456-69CA719F978C}"/>
              </a:ext>
            </a:extLst>
          </p:cNvPr>
          <p:cNvPicPr>
            <a:picLocks noChangeAspect="1"/>
          </p:cNvPicPr>
          <p:nvPr/>
        </p:nvPicPr>
        <p:blipFill>
          <a:blip r:embed="rId6"/>
          <a:stretch>
            <a:fillRect/>
          </a:stretch>
        </p:blipFill>
        <p:spPr>
          <a:xfrm>
            <a:off x="238615" y="3703272"/>
            <a:ext cx="2970929" cy="2337736"/>
          </a:xfrm>
          <a:prstGeom prst="rect">
            <a:avLst/>
          </a:prstGeom>
        </p:spPr>
      </p:pic>
    </p:spTree>
    <p:extLst>
      <p:ext uri="{BB962C8B-B14F-4D97-AF65-F5344CB8AC3E}">
        <p14:creationId xmlns:p14="http://schemas.microsoft.com/office/powerpoint/2010/main" val="286799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464349" y="1399800"/>
            <a:ext cx="6465000" cy="545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Option</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to</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add</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several</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markets</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Select to which markets an specific product will be available</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Different taxes can be defined for each of the markets by product.</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Different payment methods can be defined (see picture below)</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As an example, you can use “Pants” product which is only available in USA</a:t>
            </a: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9" y="460375"/>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Markets management</a:t>
            </a:r>
            <a:endParaRPr sz="5200" dirty="0">
              <a:solidFill>
                <a:srgbClr val="47413C"/>
              </a:solidFill>
              <a:latin typeface="Verdana"/>
              <a:ea typeface="Verdana"/>
              <a:cs typeface="Verdana"/>
              <a:sym typeface="Verdana"/>
            </a:endParaRPr>
          </a:p>
        </p:txBody>
      </p:sp>
      <p:pic>
        <p:nvPicPr>
          <p:cNvPr id="8" name="Imagen 7">
            <a:extLst>
              <a:ext uri="{FF2B5EF4-FFF2-40B4-BE49-F238E27FC236}">
                <a16:creationId xmlns:a16="http://schemas.microsoft.com/office/drawing/2014/main" id="{D986C247-57CC-7D2C-CF0F-ADBDD039DB0C}"/>
              </a:ext>
            </a:extLst>
          </p:cNvPr>
          <p:cNvPicPr>
            <a:picLocks noChangeAspect="1"/>
          </p:cNvPicPr>
          <p:nvPr/>
        </p:nvPicPr>
        <p:blipFill>
          <a:blip r:embed="rId4"/>
          <a:stretch>
            <a:fillRect/>
          </a:stretch>
        </p:blipFill>
        <p:spPr>
          <a:xfrm>
            <a:off x="464349" y="3493252"/>
            <a:ext cx="4515963" cy="2235625"/>
          </a:xfrm>
          <a:prstGeom prst="rect">
            <a:avLst/>
          </a:prstGeom>
        </p:spPr>
      </p:pic>
    </p:spTree>
    <p:extLst>
      <p:ext uri="{BB962C8B-B14F-4D97-AF65-F5344CB8AC3E}">
        <p14:creationId xmlns:p14="http://schemas.microsoft.com/office/powerpoint/2010/main" val="31118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666849" y="1399800"/>
            <a:ext cx="6465000" cy="545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a:solidFill>
                  <a:srgbClr val="47413C"/>
                </a:solidFill>
                <a:latin typeface="Montserrat"/>
                <a:ea typeface="Montserrat"/>
                <a:cs typeface="Montserrat"/>
                <a:sym typeface="Montserrat"/>
              </a:rPr>
              <a:t>Note</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On our sandbox store page you can select the market where you want to buy from</a:t>
            </a: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464349" y="460375"/>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Markets management</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C4F57F12-7D85-F1C4-333F-DA1337C0B063}"/>
              </a:ext>
            </a:extLst>
          </p:cNvPr>
          <p:cNvPicPr>
            <a:picLocks noChangeAspect="1"/>
          </p:cNvPicPr>
          <p:nvPr/>
        </p:nvPicPr>
        <p:blipFill>
          <a:blip r:embed="rId4"/>
          <a:stretch>
            <a:fillRect/>
          </a:stretch>
        </p:blipFill>
        <p:spPr>
          <a:xfrm>
            <a:off x="464349" y="2691042"/>
            <a:ext cx="10326628" cy="3247641"/>
          </a:xfrm>
          <a:prstGeom prst="rect">
            <a:avLst/>
          </a:prstGeom>
        </p:spPr>
      </p:pic>
    </p:spTree>
    <p:extLst>
      <p:ext uri="{BB962C8B-B14F-4D97-AF65-F5344CB8AC3E}">
        <p14:creationId xmlns:p14="http://schemas.microsoft.com/office/powerpoint/2010/main" val="2223105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611831" y="1399800"/>
            <a:ext cx="6465000" cy="5458200"/>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600" b="1" dirty="0" err="1">
                <a:solidFill>
                  <a:srgbClr val="47413C"/>
                </a:solidFill>
                <a:latin typeface="Montserrat"/>
                <a:ea typeface="Montserrat"/>
                <a:cs typeface="Montserrat"/>
                <a:sym typeface="Montserrat"/>
              </a:rPr>
              <a:t>Steps</a:t>
            </a:r>
            <a:r>
              <a:rPr lang="es-UY" sz="1400" b="1" dirty="0">
                <a:solidFill>
                  <a:srgbClr val="47413C"/>
                </a:solidFill>
                <a:latin typeface="Montserrat"/>
                <a:ea typeface="Montserrat"/>
                <a:cs typeface="Montserrat"/>
                <a:sym typeface="Montserrat"/>
              </a:rPr>
              <a:t>:</a:t>
            </a:r>
          </a:p>
          <a:p>
            <a:pPr marL="139700" lvl="0" algn="l" rtl="0">
              <a:lnSpc>
                <a:spcPct val="115000"/>
              </a:lnSpc>
              <a:spcBef>
                <a:spcPts val="600"/>
              </a:spcBef>
              <a:spcAft>
                <a:spcPts val="0"/>
              </a:spcAft>
              <a:buClr>
                <a:srgbClr val="47413C"/>
              </a:buClr>
              <a:buSzPts val="1400"/>
            </a:pPr>
            <a:r>
              <a:rPr lang="es-UY" dirty="0">
                <a:solidFill>
                  <a:srgbClr val="47413C"/>
                </a:solidFill>
                <a:latin typeface="Montserrat"/>
                <a:ea typeface="Montserrat"/>
                <a:cs typeface="Montserrat"/>
                <a:sym typeface="Montserrat"/>
              </a:rPr>
              <a:t>1. “</a:t>
            </a:r>
            <a:r>
              <a:rPr lang="es-UY" dirty="0" err="1">
                <a:solidFill>
                  <a:srgbClr val="47413C"/>
                </a:solidFill>
                <a:latin typeface="Montserrat"/>
                <a:ea typeface="Montserrat"/>
                <a:cs typeface="Montserrat"/>
                <a:sym typeface="Montserrat"/>
              </a:rPr>
              <a:t>Add</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cart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which</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will</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add</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the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current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selected</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product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with</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its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variants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the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cart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or</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Buy</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it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now</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option</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which</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will</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take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you</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straight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the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checkout</a:t>
            </a: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D7A0847C-1FA5-1210-E89C-26BAE8592FDB}"/>
              </a:ext>
            </a:extLst>
          </p:cNvPr>
          <p:cNvPicPr>
            <a:picLocks noChangeAspect="1"/>
          </p:cNvPicPr>
          <p:nvPr/>
        </p:nvPicPr>
        <p:blipFill>
          <a:blip r:embed="rId4"/>
          <a:stretch>
            <a:fillRect/>
          </a:stretch>
        </p:blipFill>
        <p:spPr>
          <a:xfrm>
            <a:off x="127819" y="2391480"/>
            <a:ext cx="6465001" cy="3232501"/>
          </a:xfrm>
          <a:prstGeom prst="rect">
            <a:avLst/>
          </a:prstGeom>
        </p:spPr>
      </p:pic>
      <p:pic>
        <p:nvPicPr>
          <p:cNvPr id="5" name="Imagen 4">
            <a:extLst>
              <a:ext uri="{FF2B5EF4-FFF2-40B4-BE49-F238E27FC236}">
                <a16:creationId xmlns:a16="http://schemas.microsoft.com/office/drawing/2014/main" id="{9F59489F-ECB9-0B97-5252-62F4B0B8477B}"/>
              </a:ext>
            </a:extLst>
          </p:cNvPr>
          <p:cNvPicPr>
            <a:picLocks noChangeAspect="1"/>
          </p:cNvPicPr>
          <p:nvPr/>
        </p:nvPicPr>
        <p:blipFill>
          <a:blip r:embed="rId5"/>
          <a:stretch>
            <a:fillRect/>
          </a:stretch>
        </p:blipFill>
        <p:spPr>
          <a:xfrm>
            <a:off x="7151360" y="861993"/>
            <a:ext cx="4527131" cy="3625929"/>
          </a:xfrm>
          <a:prstGeom prst="rect">
            <a:avLst/>
          </a:prstGeom>
        </p:spPr>
      </p:pic>
    </p:spTree>
    <p:extLst>
      <p:ext uri="{BB962C8B-B14F-4D97-AF65-F5344CB8AC3E}">
        <p14:creationId xmlns:p14="http://schemas.microsoft.com/office/powerpoint/2010/main" val="212028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95522" y="1399800"/>
            <a:ext cx="3930672" cy="5458200"/>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600" b="1" dirty="0" err="1">
                <a:solidFill>
                  <a:srgbClr val="47413C"/>
                </a:solidFill>
                <a:latin typeface="Montserrat"/>
                <a:ea typeface="Montserrat"/>
                <a:cs typeface="Montserrat"/>
                <a:sym typeface="Montserrat"/>
              </a:rPr>
              <a:t>Steps</a:t>
            </a:r>
            <a:r>
              <a:rPr lang="es-UY" sz="1400" b="1" dirty="0">
                <a:solidFill>
                  <a:srgbClr val="47413C"/>
                </a:solidFill>
                <a:latin typeface="Montserrat"/>
                <a:ea typeface="Montserrat"/>
                <a:cs typeface="Montserrat"/>
                <a:sym typeface="Montserrat"/>
              </a:rPr>
              <a:t>:</a:t>
            </a:r>
          </a:p>
          <a:p>
            <a:pPr marL="139700" lvl="0" algn="l" rtl="0">
              <a:lnSpc>
                <a:spcPct val="115000"/>
              </a:lnSpc>
              <a:spcBef>
                <a:spcPts val="600"/>
              </a:spcBef>
              <a:spcAft>
                <a:spcPts val="0"/>
              </a:spcAft>
              <a:buClr>
                <a:srgbClr val="47413C"/>
              </a:buClr>
              <a:buSzPts val="1400"/>
            </a:pPr>
            <a:r>
              <a:rPr lang="es-UY" dirty="0">
                <a:solidFill>
                  <a:srgbClr val="47413C"/>
                </a:solidFill>
                <a:latin typeface="Montserrat"/>
                <a:ea typeface="Montserrat"/>
                <a:cs typeface="Montserrat"/>
                <a:sym typeface="Montserrat"/>
              </a:rPr>
              <a:t>2. </a:t>
            </a:r>
            <a:r>
              <a:rPr lang="es-UY" dirty="0" err="1">
                <a:solidFill>
                  <a:srgbClr val="47413C"/>
                </a:solidFill>
                <a:latin typeface="Montserrat"/>
                <a:ea typeface="Montserrat"/>
                <a:cs typeface="Montserrat"/>
                <a:sym typeface="Montserrat"/>
              </a:rPr>
              <a:t>Fill</a:t>
            </a:r>
            <a:r>
              <a:rPr lang="es-UY" dirty="0">
                <a:solidFill>
                  <a:srgbClr val="47413C"/>
                </a:solidFill>
                <a:latin typeface="Montserrat"/>
                <a:ea typeface="Montserrat"/>
                <a:cs typeface="Montserrat"/>
                <a:sym typeface="Montserrat"/>
              </a:rPr>
              <a:t> in </a:t>
            </a:r>
            <a:r>
              <a:rPr lang="es-UY" dirty="0" err="1">
                <a:solidFill>
                  <a:srgbClr val="47413C"/>
                </a:solidFill>
                <a:latin typeface="Montserrat"/>
                <a:ea typeface="Montserrat"/>
                <a:cs typeface="Montserrat"/>
                <a:sym typeface="Montserrat"/>
              </a:rPr>
              <a:t>transaction</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details</a:t>
            </a:r>
            <a:r>
              <a:rPr lang="es-UY" dirty="0">
                <a:solidFill>
                  <a:srgbClr val="47413C"/>
                </a:solidFill>
                <a:latin typeface="Montserrat"/>
                <a:ea typeface="Montserrat"/>
                <a:cs typeface="Montserrat"/>
                <a:sym typeface="Montserrat"/>
              </a:rPr>
              <a:t> and </a:t>
            </a:r>
            <a:r>
              <a:rPr lang="es-UY" dirty="0" err="1">
                <a:solidFill>
                  <a:srgbClr val="47413C"/>
                </a:solidFill>
                <a:latin typeface="Montserrat"/>
                <a:ea typeface="Montserrat"/>
                <a:cs typeface="Montserrat"/>
                <a:sym typeface="Montserrat"/>
              </a:rPr>
              <a:t>payment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section</a:t>
            </a:r>
            <a:endParaRPr lang="es-UY" dirty="0">
              <a:solidFill>
                <a:srgbClr val="47413C"/>
              </a:solidFill>
              <a:latin typeface="Montserrat"/>
              <a:ea typeface="Montserrat"/>
              <a:cs typeface="Montserrat"/>
              <a:sym typeface="Montserrat"/>
            </a:endParaRPr>
          </a:p>
          <a:p>
            <a:pPr marL="457200" lvl="2" indent="-317500">
              <a:lnSpc>
                <a:spcPct val="115000"/>
              </a:lnSpc>
              <a:spcBef>
                <a:spcPts val="600"/>
              </a:spcBef>
              <a:buClr>
                <a:srgbClr val="47413C"/>
              </a:buClr>
              <a:buSzPts val="1400"/>
              <a:buFont typeface="Montserrat"/>
              <a:buChar char="●"/>
            </a:pPr>
            <a:r>
              <a:rPr lang="es-UY" dirty="0" err="1">
                <a:solidFill>
                  <a:srgbClr val="47413C"/>
                </a:solidFill>
                <a:latin typeface="Montserrat"/>
                <a:ea typeface="Montserrat"/>
                <a:cs typeface="Montserrat"/>
                <a:sym typeface="Montserrat"/>
              </a:rPr>
              <a:t>Card</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number</a:t>
            </a:r>
            <a:r>
              <a:rPr lang="es-UY" dirty="0">
                <a:solidFill>
                  <a:srgbClr val="47413C"/>
                </a:solidFill>
                <a:latin typeface="Montserrat"/>
                <a:ea typeface="Montserrat"/>
                <a:cs typeface="Montserrat"/>
                <a:sym typeface="Montserrat"/>
              </a:rPr>
              <a:t> set: 1 (</a:t>
            </a:r>
            <a:r>
              <a:rPr lang="es-UY" dirty="0" err="1">
                <a:solidFill>
                  <a:srgbClr val="47413C"/>
                </a:solidFill>
                <a:latin typeface="Montserrat"/>
                <a:ea typeface="Montserrat"/>
                <a:cs typeface="Montserrat"/>
                <a:sym typeface="Montserrat"/>
              </a:rPr>
              <a:t>means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successfull</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transaction</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on</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bogus</a:t>
            </a:r>
            <a:r>
              <a:rPr lang="es-UY" dirty="0">
                <a:solidFill>
                  <a:srgbClr val="47413C"/>
                </a:solidFill>
                <a:latin typeface="Montserrat"/>
                <a:ea typeface="Montserrat"/>
                <a:cs typeface="Montserrat"/>
                <a:sym typeface="Montserrat"/>
              </a:rPr>
              <a:t>)</a:t>
            </a:r>
          </a:p>
          <a:p>
            <a:pPr marL="457200" lvl="2" indent="-317500">
              <a:lnSpc>
                <a:spcPct val="115000"/>
              </a:lnSpc>
              <a:spcBef>
                <a:spcPts val="600"/>
              </a:spcBef>
              <a:buClr>
                <a:srgbClr val="47413C"/>
              </a:buClr>
              <a:buSzPts val="1400"/>
              <a:buFont typeface="Montserrat"/>
              <a:buChar char="●"/>
            </a:pPr>
            <a:r>
              <a:rPr lang="es-UY" dirty="0" err="1">
                <a:solidFill>
                  <a:srgbClr val="47413C"/>
                </a:solidFill>
                <a:latin typeface="Montserrat"/>
                <a:ea typeface="Montserrat"/>
                <a:cs typeface="Montserrat"/>
                <a:sym typeface="Montserrat"/>
              </a:rPr>
              <a:t>Expiration</a:t>
            </a:r>
            <a:r>
              <a:rPr lang="es-UY" dirty="0">
                <a:solidFill>
                  <a:srgbClr val="47413C"/>
                </a:solidFill>
                <a:latin typeface="Montserrat"/>
                <a:ea typeface="Montserrat"/>
                <a:cs typeface="Montserrat"/>
                <a:sym typeface="Montserrat"/>
              </a:rPr>
              <a:t> date: +1 </a:t>
            </a:r>
            <a:r>
              <a:rPr lang="es-UY" dirty="0" err="1">
                <a:solidFill>
                  <a:srgbClr val="47413C"/>
                </a:solidFill>
                <a:latin typeface="Montserrat"/>
                <a:ea typeface="Montserrat"/>
                <a:cs typeface="Montserrat"/>
                <a:sym typeface="Montserrat"/>
              </a:rPr>
              <a:t>month</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from</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today’s</a:t>
            </a:r>
            <a:r>
              <a:rPr lang="es-UY" dirty="0">
                <a:solidFill>
                  <a:srgbClr val="47413C"/>
                </a:solidFill>
                <a:latin typeface="Montserrat"/>
                <a:ea typeface="Montserrat"/>
                <a:cs typeface="Montserrat"/>
                <a:sym typeface="Montserrat"/>
              </a:rPr>
              <a:t> date</a:t>
            </a:r>
          </a:p>
          <a:p>
            <a:pPr marL="457200" lvl="2" indent="-317500">
              <a:lnSpc>
                <a:spcPct val="115000"/>
              </a:lnSpc>
              <a:spcBef>
                <a:spcPts val="600"/>
              </a:spcBef>
              <a:buClr>
                <a:srgbClr val="47413C"/>
              </a:buClr>
              <a:buSzPts val="1400"/>
              <a:buFont typeface="Montserrat"/>
              <a:buChar char="●"/>
            </a:pPr>
            <a:r>
              <a:rPr lang="es-UY" dirty="0">
                <a:solidFill>
                  <a:srgbClr val="47413C"/>
                </a:solidFill>
                <a:latin typeface="Montserrat"/>
                <a:ea typeface="Montserrat"/>
                <a:cs typeface="Montserrat"/>
                <a:sym typeface="Montserrat"/>
              </a:rPr>
              <a:t>Security </a:t>
            </a:r>
            <a:r>
              <a:rPr lang="es-UY" dirty="0" err="1">
                <a:solidFill>
                  <a:srgbClr val="47413C"/>
                </a:solidFill>
                <a:latin typeface="Montserrat"/>
                <a:ea typeface="Montserrat"/>
                <a:cs typeface="Montserrat"/>
                <a:sym typeface="Montserrat"/>
              </a:rPr>
              <a:t>Code</a:t>
            </a:r>
            <a:r>
              <a:rPr lang="es-UY" dirty="0">
                <a:solidFill>
                  <a:srgbClr val="47413C"/>
                </a:solidFill>
                <a:latin typeface="Montserrat"/>
                <a:ea typeface="Montserrat"/>
                <a:cs typeface="Montserrat"/>
                <a:sym typeface="Montserrat"/>
              </a:rPr>
              <a:t>: 33</a:t>
            </a:r>
          </a:p>
          <a:p>
            <a:pPr marL="139700" lvl="1">
              <a:lnSpc>
                <a:spcPct val="115000"/>
              </a:lnSpc>
              <a:spcBef>
                <a:spcPts val="600"/>
              </a:spcBef>
              <a:buClr>
                <a:srgbClr val="47413C"/>
              </a:buClr>
              <a:buSzPts val="1400"/>
            </a:pPr>
            <a:endParaRPr lang="es-UY" dirty="0">
              <a:solidFill>
                <a:srgbClr val="47413C"/>
              </a:solidFill>
              <a:latin typeface="Montserrat"/>
              <a:ea typeface="Montserrat"/>
              <a:cs typeface="Montserrat"/>
              <a:sym typeface="Montserrat"/>
            </a:endParaRPr>
          </a:p>
          <a:p>
            <a:pPr marL="139700">
              <a:lnSpc>
                <a:spcPct val="115000"/>
              </a:lnSpc>
              <a:spcBef>
                <a:spcPts val="600"/>
              </a:spcBef>
              <a:buClr>
                <a:srgbClr val="47413C"/>
              </a:buClr>
              <a:buSzPts val="1400"/>
            </a:pPr>
            <a:r>
              <a:rPr lang="es-UY" b="1" dirty="0">
                <a:solidFill>
                  <a:srgbClr val="47413C"/>
                </a:solidFill>
                <a:latin typeface="Montserrat"/>
                <a:ea typeface="Montserrat"/>
                <a:cs typeface="Montserrat"/>
                <a:sym typeface="Montserrat"/>
              </a:rPr>
              <a:t>Notes</a:t>
            </a:r>
            <a:r>
              <a:rPr lang="es-UY" sz="1400" b="1" dirty="0">
                <a:solidFill>
                  <a:srgbClr val="47413C"/>
                </a:solidFill>
                <a:latin typeface="Montserrat"/>
                <a:ea typeface="Montserrat"/>
                <a:cs typeface="Montserrat"/>
                <a:sym typeface="Montserrat"/>
              </a:rPr>
              <a:t>:</a:t>
            </a:r>
          </a:p>
          <a:p>
            <a:pPr marL="457200" lvl="0" indent="-317500" algn="l" rtl="0">
              <a:lnSpc>
                <a:spcPct val="115000"/>
              </a:lnSpc>
              <a:spcBef>
                <a:spcPts val="600"/>
              </a:spcBef>
              <a:spcAft>
                <a:spcPts val="0"/>
              </a:spcAft>
              <a:buClr>
                <a:srgbClr val="47413C"/>
              </a:buClr>
              <a:buSzPts val="1400"/>
              <a:buFont typeface="Montserrat"/>
              <a:buChar char="●"/>
            </a:pPr>
            <a:r>
              <a:rPr lang="es-UY" dirty="0" err="1">
                <a:solidFill>
                  <a:srgbClr val="47413C"/>
                </a:solidFill>
                <a:latin typeface="Montserrat"/>
                <a:ea typeface="Montserrat"/>
                <a:cs typeface="Montserrat"/>
                <a:sym typeface="Montserrat"/>
              </a:rPr>
              <a:t>Allows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you</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select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different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shipping</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methods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defined</a:t>
            </a:r>
            <a:r>
              <a:rPr lang="es-UY" dirty="0">
                <a:solidFill>
                  <a:srgbClr val="47413C"/>
                </a:solidFill>
                <a:latin typeface="Montserrat"/>
                <a:ea typeface="Montserrat"/>
                <a:cs typeface="Montserrat"/>
                <a:sym typeface="Montserrat"/>
              </a:rPr>
              <a:t> in </a:t>
            </a:r>
            <a:r>
              <a:rPr lang="es-UY" dirty="0" err="1">
                <a:solidFill>
                  <a:srgbClr val="47413C"/>
                </a:solidFill>
                <a:latin typeface="Montserrat"/>
                <a:ea typeface="Montserrat"/>
                <a:cs typeface="Montserrat"/>
                <a:sym typeface="Montserrat"/>
              </a:rPr>
              <a:t>Configuration</a:t>
            </a:r>
            <a:endParaRPr lang="es-UY"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s-UY" dirty="0" err="1">
                <a:solidFill>
                  <a:srgbClr val="47413C"/>
                </a:solidFill>
                <a:latin typeface="Montserrat"/>
                <a:ea typeface="Montserrat"/>
                <a:cs typeface="Montserrat"/>
                <a:sym typeface="Montserrat"/>
              </a:rPr>
              <a:t>Payment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select</a:t>
            </a:r>
            <a:r>
              <a:rPr lang="es-UY" dirty="0">
                <a:solidFill>
                  <a:srgbClr val="47413C"/>
                </a:solidFill>
                <a:latin typeface="Montserrat"/>
                <a:ea typeface="Montserrat"/>
                <a:cs typeface="Montserrat"/>
                <a:sym typeface="Montserrat"/>
              </a:rPr>
              <a:t> can be </a:t>
            </a:r>
            <a:r>
              <a:rPr lang="es-UY" dirty="0" err="1">
                <a:solidFill>
                  <a:srgbClr val="47413C"/>
                </a:solidFill>
                <a:latin typeface="Montserrat"/>
                <a:ea typeface="Montserrat"/>
                <a:cs typeface="Montserrat"/>
                <a:sym typeface="Montserrat"/>
              </a:rPr>
              <a:t>customized</a:t>
            </a:r>
            <a:r>
              <a:rPr lang="es-UY" dirty="0">
                <a:solidFill>
                  <a:srgbClr val="47413C"/>
                </a:solidFill>
                <a:latin typeface="Montserrat"/>
                <a:ea typeface="Montserrat"/>
                <a:cs typeface="Montserrat"/>
                <a:sym typeface="Montserrat"/>
              </a:rPr>
              <a:t> (In </a:t>
            </a:r>
            <a:r>
              <a:rPr lang="es-UY" dirty="0" err="1">
                <a:solidFill>
                  <a:srgbClr val="47413C"/>
                </a:solidFill>
                <a:latin typeface="Montserrat"/>
                <a:ea typeface="Montserrat"/>
                <a:cs typeface="Montserrat"/>
                <a:sym typeface="Montserrat"/>
              </a:rPr>
              <a:t>this</a:t>
            </a:r>
            <a:r>
              <a:rPr lang="es-UY" dirty="0">
                <a:solidFill>
                  <a:srgbClr val="47413C"/>
                </a:solidFill>
                <a:latin typeface="Montserrat"/>
                <a:ea typeface="Montserrat"/>
                <a:cs typeface="Montserrat"/>
                <a:sym typeface="Montserrat"/>
              </a:rPr>
              <a:t> case </a:t>
            </a:r>
            <a:r>
              <a:rPr lang="es-UY" dirty="0" err="1">
                <a:solidFill>
                  <a:srgbClr val="47413C"/>
                </a:solidFill>
                <a:latin typeface="Montserrat"/>
                <a:ea typeface="Montserrat"/>
                <a:cs typeface="Montserrat"/>
                <a:sym typeface="Montserrat"/>
              </a:rPr>
              <a:t>we</a:t>
            </a:r>
            <a:r>
              <a:rPr lang="es-UY" dirty="0">
                <a:solidFill>
                  <a:srgbClr val="47413C"/>
                </a:solidFill>
                <a:latin typeface="Montserrat"/>
                <a:ea typeface="Montserrat"/>
                <a:cs typeface="Montserrat"/>
                <a:sym typeface="Montserrat"/>
              </a:rPr>
              <a:t> use </a:t>
            </a:r>
            <a:r>
              <a:rPr lang="es-UY" dirty="0" err="1">
                <a:solidFill>
                  <a:srgbClr val="47413C"/>
                </a:solidFill>
                <a:latin typeface="Montserrat"/>
                <a:ea typeface="Montserrat"/>
                <a:cs typeface="Montserrat"/>
                <a:sym typeface="Montserrat"/>
              </a:rPr>
              <a:t>bogus</a:t>
            </a:r>
            <a:r>
              <a:rPr lang="es-UY" dirty="0">
                <a:solidFill>
                  <a:srgbClr val="47413C"/>
                </a:solidFill>
                <a:latin typeface="Montserrat"/>
                <a:ea typeface="Montserrat"/>
                <a:cs typeface="Montserrat"/>
                <a:sym typeface="Montserrat"/>
              </a:rPr>
              <a:t> as a bypass </a:t>
            </a:r>
            <a:r>
              <a:rPr lang="es-UY" dirty="0" err="1">
                <a:solidFill>
                  <a:srgbClr val="47413C"/>
                </a:solidFill>
                <a:latin typeface="Montserrat"/>
                <a:ea typeface="Montserrat"/>
                <a:cs typeface="Montserrat"/>
                <a:sym typeface="Montserrat"/>
              </a:rPr>
              <a:t>method</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to</a:t>
            </a:r>
            <a:r>
              <a:rPr lang="es-UY" dirty="0">
                <a:solidFill>
                  <a:srgbClr val="47413C"/>
                </a:solidFill>
                <a:latin typeface="Montserrat"/>
                <a:ea typeface="Montserrat"/>
                <a:cs typeface="Montserrat"/>
                <a:sym typeface="Montserrat"/>
              </a:rPr>
              <a:t> test)</a:t>
            </a:r>
            <a:br>
              <a:rPr lang="es-UY" dirty="0">
                <a:solidFill>
                  <a:srgbClr val="47413C"/>
                </a:solidFill>
                <a:latin typeface="Montserrat"/>
                <a:ea typeface="Montserrat"/>
                <a:cs typeface="Montserrat"/>
                <a:sym typeface="Montserrat"/>
              </a:rPr>
            </a:br>
            <a:endParaRPr lang="es-UY"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9997B1A1-CDBF-5E47-414A-6BF383719DA5}"/>
              </a:ext>
            </a:extLst>
          </p:cNvPr>
          <p:cNvPicPr>
            <a:picLocks noChangeAspect="1"/>
          </p:cNvPicPr>
          <p:nvPr/>
        </p:nvPicPr>
        <p:blipFill>
          <a:blip r:embed="rId4"/>
          <a:stretch>
            <a:fillRect/>
          </a:stretch>
        </p:blipFill>
        <p:spPr>
          <a:xfrm>
            <a:off x="4474205" y="1273443"/>
            <a:ext cx="7564040" cy="4184757"/>
          </a:xfrm>
          <a:prstGeom prst="rect">
            <a:avLst/>
          </a:prstGeom>
        </p:spPr>
      </p:pic>
    </p:spTree>
    <p:extLst>
      <p:ext uri="{BB962C8B-B14F-4D97-AF65-F5344CB8AC3E}">
        <p14:creationId xmlns:p14="http://schemas.microsoft.com/office/powerpoint/2010/main" val="264499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95522" y="1399800"/>
            <a:ext cx="3930672" cy="5458200"/>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600" b="1" dirty="0" err="1">
                <a:solidFill>
                  <a:srgbClr val="47413C"/>
                </a:solidFill>
                <a:latin typeface="Montserrat"/>
                <a:ea typeface="Montserrat"/>
                <a:cs typeface="Montserrat"/>
                <a:sym typeface="Montserrat"/>
              </a:rPr>
              <a:t>Steps</a:t>
            </a:r>
            <a:r>
              <a:rPr lang="es-UY" sz="1400" b="1" dirty="0">
                <a:solidFill>
                  <a:srgbClr val="47413C"/>
                </a:solidFill>
                <a:latin typeface="Montserrat"/>
                <a:ea typeface="Montserrat"/>
                <a:cs typeface="Montserrat"/>
                <a:sym typeface="Montserrat"/>
              </a:rPr>
              <a:t>:</a:t>
            </a:r>
          </a:p>
          <a:p>
            <a:pPr marL="457200" lvl="0" indent="-317500" algn="l" rtl="0">
              <a:lnSpc>
                <a:spcPct val="115000"/>
              </a:lnSpc>
              <a:spcBef>
                <a:spcPts val="600"/>
              </a:spcBef>
              <a:spcAft>
                <a:spcPts val="0"/>
              </a:spcAft>
              <a:buClr>
                <a:srgbClr val="47413C"/>
              </a:buClr>
              <a:buSzPts val="1400"/>
              <a:buFont typeface="Montserrat"/>
              <a:buChar char="●"/>
            </a:pPr>
            <a:r>
              <a:rPr lang="es-UY" dirty="0">
                <a:solidFill>
                  <a:srgbClr val="47413C"/>
                </a:solidFill>
                <a:latin typeface="Montserrat"/>
                <a:ea typeface="Montserrat"/>
                <a:cs typeface="Montserrat"/>
                <a:sym typeface="Montserrat"/>
              </a:rPr>
              <a:t>3. </a:t>
            </a:r>
            <a:r>
              <a:rPr lang="es-UY" dirty="0" err="1">
                <a:solidFill>
                  <a:srgbClr val="47413C"/>
                </a:solidFill>
                <a:latin typeface="Montserrat"/>
                <a:ea typeface="Montserrat"/>
                <a:cs typeface="Montserrat"/>
                <a:sym typeface="Montserrat"/>
              </a:rPr>
              <a:t>Select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Pay</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now</a:t>
            </a:r>
            <a:br>
              <a:rPr lang="es-UY" dirty="0">
                <a:solidFill>
                  <a:srgbClr val="47413C"/>
                </a:solidFill>
                <a:latin typeface="Montserrat"/>
                <a:ea typeface="Montserrat"/>
                <a:cs typeface="Montserrat"/>
                <a:sym typeface="Montserrat"/>
              </a:rPr>
            </a:br>
            <a:endParaRPr lang="es-UY"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pic>
        <p:nvPicPr>
          <p:cNvPr id="4" name="Imagen 3">
            <a:extLst>
              <a:ext uri="{FF2B5EF4-FFF2-40B4-BE49-F238E27FC236}">
                <a16:creationId xmlns:a16="http://schemas.microsoft.com/office/drawing/2014/main" id="{C660FB82-3C4F-BD10-4562-CE28692038BA}"/>
              </a:ext>
            </a:extLst>
          </p:cNvPr>
          <p:cNvPicPr>
            <a:picLocks noChangeAspect="1"/>
          </p:cNvPicPr>
          <p:nvPr/>
        </p:nvPicPr>
        <p:blipFill>
          <a:blip r:embed="rId4"/>
          <a:stretch>
            <a:fillRect/>
          </a:stretch>
        </p:blipFill>
        <p:spPr>
          <a:xfrm>
            <a:off x="3186768" y="1399800"/>
            <a:ext cx="6989619" cy="5007488"/>
          </a:xfrm>
          <a:prstGeom prst="rect">
            <a:avLst/>
          </a:prstGeom>
        </p:spPr>
      </p:pic>
    </p:spTree>
    <p:extLst>
      <p:ext uri="{BB962C8B-B14F-4D97-AF65-F5344CB8AC3E}">
        <p14:creationId xmlns:p14="http://schemas.microsoft.com/office/powerpoint/2010/main" val="45127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95522" y="1399800"/>
            <a:ext cx="2791246" cy="5458200"/>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600" b="1" dirty="0" err="1">
                <a:solidFill>
                  <a:srgbClr val="47413C"/>
                </a:solidFill>
                <a:latin typeface="Montserrat"/>
                <a:ea typeface="Montserrat"/>
                <a:cs typeface="Montserrat"/>
                <a:sym typeface="Montserrat"/>
              </a:rPr>
              <a:t>Confirmation</a:t>
            </a:r>
            <a:r>
              <a:rPr lang="es-UY" sz="1600" b="1" dirty="0">
                <a:solidFill>
                  <a:srgbClr val="47413C"/>
                </a:solidFill>
                <a:latin typeface="Montserrat"/>
                <a:ea typeface="Montserrat"/>
                <a:cs typeface="Montserrat"/>
                <a:sym typeface="Montserrat"/>
              </a:rPr>
              <a:t> page</a:t>
            </a:r>
            <a:r>
              <a:rPr lang="es-UY" sz="1400" b="1" dirty="0">
                <a:solidFill>
                  <a:srgbClr val="47413C"/>
                </a:solidFill>
                <a:latin typeface="Montserrat"/>
                <a:ea typeface="Montserrat"/>
                <a:cs typeface="Montserrat"/>
                <a:sym typeface="Montserrat"/>
              </a:rPr>
              <a:t>:</a:t>
            </a:r>
          </a:p>
          <a:p>
            <a:pPr marL="457200" lvl="0" indent="-317500" algn="l" rtl="0">
              <a:lnSpc>
                <a:spcPct val="115000"/>
              </a:lnSpc>
              <a:spcBef>
                <a:spcPts val="600"/>
              </a:spcBef>
              <a:spcAft>
                <a:spcPts val="0"/>
              </a:spcAft>
              <a:buClr>
                <a:srgbClr val="47413C"/>
              </a:buClr>
              <a:buSzPts val="1400"/>
              <a:buFont typeface="Montserrat"/>
              <a:buChar char="●"/>
            </a:pPr>
            <a:r>
              <a:rPr lang="es-UY" dirty="0" err="1">
                <a:solidFill>
                  <a:srgbClr val="47413C"/>
                </a:solidFill>
                <a:latin typeface="Montserrat"/>
                <a:ea typeface="Montserrat"/>
                <a:cs typeface="Montserrat"/>
                <a:sym typeface="Montserrat"/>
              </a:rPr>
              <a:t>This</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will</a:t>
            </a:r>
            <a:r>
              <a:rPr lang="es-UY" dirty="0">
                <a:solidFill>
                  <a:srgbClr val="47413C"/>
                </a:solidFill>
                <a:latin typeface="Montserrat"/>
                <a:ea typeface="Montserrat"/>
                <a:cs typeface="Montserrat"/>
                <a:sym typeface="Montserrat"/>
              </a:rPr>
              <a:t> show </a:t>
            </a:r>
            <a:r>
              <a:rPr lang="es-UY" dirty="0" err="1">
                <a:solidFill>
                  <a:srgbClr val="47413C"/>
                </a:solidFill>
                <a:latin typeface="Montserrat"/>
                <a:ea typeface="Montserrat"/>
                <a:cs typeface="Montserrat"/>
                <a:sym typeface="Montserrat"/>
              </a:rPr>
              <a:t>you</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the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order</a:t>
            </a:r>
            <a:endParaRPr lang="es-UY"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s-UY" dirty="0" err="1">
                <a:solidFill>
                  <a:srgbClr val="47413C"/>
                </a:solidFill>
                <a:latin typeface="Montserrat"/>
                <a:ea typeface="Montserrat"/>
                <a:cs typeface="Montserrat"/>
                <a:sym typeface="Montserrat"/>
              </a:rPr>
              <a:t>You</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will</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receive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an</a:t>
            </a:r>
            <a:r>
              <a:rPr lang="es-UY" dirty="0">
                <a:solidFill>
                  <a:srgbClr val="47413C"/>
                </a:solidFill>
                <a:latin typeface="Montserrat"/>
                <a:ea typeface="Montserrat"/>
                <a:cs typeface="Montserrat"/>
                <a:sym typeface="Montserrat"/>
              </a:rPr>
              <a:t> email </a:t>
            </a:r>
            <a:r>
              <a:rPr lang="es-UY" dirty="0" err="1">
                <a:solidFill>
                  <a:srgbClr val="47413C"/>
                </a:solidFill>
                <a:latin typeface="Montserrat"/>
                <a:ea typeface="Montserrat"/>
                <a:cs typeface="Montserrat"/>
                <a:sym typeface="Montserrat"/>
              </a:rPr>
              <a:t>with</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all</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the</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information</a:t>
            </a:r>
            <a:br>
              <a:rPr lang="es-UY" dirty="0">
                <a:solidFill>
                  <a:srgbClr val="47413C"/>
                </a:solidFill>
                <a:latin typeface="Montserrat"/>
                <a:ea typeface="Montserrat"/>
                <a:cs typeface="Montserrat"/>
                <a:sym typeface="Montserrat"/>
              </a:rPr>
            </a:br>
            <a:endParaRPr lang="es-UY"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6A9FBAE0-B3E9-3B53-0144-1B402D3CA650}"/>
              </a:ext>
            </a:extLst>
          </p:cNvPr>
          <p:cNvPicPr>
            <a:picLocks noChangeAspect="1"/>
          </p:cNvPicPr>
          <p:nvPr/>
        </p:nvPicPr>
        <p:blipFill>
          <a:blip r:embed="rId4"/>
          <a:stretch>
            <a:fillRect/>
          </a:stretch>
        </p:blipFill>
        <p:spPr>
          <a:xfrm>
            <a:off x="3186768" y="1494503"/>
            <a:ext cx="8742469" cy="4743813"/>
          </a:xfrm>
          <a:prstGeom prst="rect">
            <a:avLst/>
          </a:prstGeom>
        </p:spPr>
      </p:pic>
    </p:spTree>
    <p:extLst>
      <p:ext uri="{BB962C8B-B14F-4D97-AF65-F5344CB8AC3E}">
        <p14:creationId xmlns:p14="http://schemas.microsoft.com/office/powerpoint/2010/main" val="168999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395522" y="1399800"/>
            <a:ext cx="3930672" cy="5458200"/>
          </a:xfrm>
          <a:prstGeom prst="rect">
            <a:avLst/>
          </a:prstGeom>
          <a:noFill/>
          <a:ln>
            <a:noFill/>
          </a:ln>
        </p:spPr>
        <p:txBody>
          <a:bodyPr spcFirstLastPara="1" wrap="square" lIns="0" tIns="0" rIns="0" bIns="0" anchor="t" anchorCtr="0">
            <a:noAutofit/>
          </a:bodyPr>
          <a:lstStyle/>
          <a:p>
            <a:pPr marL="139700">
              <a:lnSpc>
                <a:spcPct val="115000"/>
              </a:lnSpc>
              <a:spcBef>
                <a:spcPts val="600"/>
              </a:spcBef>
              <a:buClr>
                <a:srgbClr val="47413C"/>
              </a:buClr>
              <a:buSzPts val="1400"/>
            </a:pPr>
            <a:r>
              <a:rPr lang="es-UY" sz="1600" b="1" dirty="0" err="1">
                <a:solidFill>
                  <a:srgbClr val="47413C"/>
                </a:solidFill>
                <a:latin typeface="Montserrat"/>
                <a:ea typeface="Montserrat"/>
                <a:cs typeface="Montserrat"/>
                <a:sym typeface="Montserrat"/>
              </a:rPr>
              <a:t>Steps</a:t>
            </a:r>
            <a:r>
              <a:rPr lang="es-UY" sz="1400" b="1" dirty="0">
                <a:solidFill>
                  <a:srgbClr val="47413C"/>
                </a:solidFill>
                <a:latin typeface="Montserrat"/>
                <a:ea typeface="Montserrat"/>
                <a:cs typeface="Montserrat"/>
                <a:sym typeface="Montserrat"/>
              </a:rPr>
              <a:t>:</a:t>
            </a:r>
          </a:p>
          <a:p>
            <a:pPr marL="457200" lvl="0" indent="-317500" algn="l" rtl="0">
              <a:lnSpc>
                <a:spcPct val="115000"/>
              </a:lnSpc>
              <a:spcBef>
                <a:spcPts val="600"/>
              </a:spcBef>
              <a:spcAft>
                <a:spcPts val="0"/>
              </a:spcAft>
              <a:buClr>
                <a:srgbClr val="47413C"/>
              </a:buClr>
              <a:buSzPts val="1400"/>
              <a:buFont typeface="Montserrat"/>
              <a:buChar char="●"/>
            </a:pPr>
            <a:r>
              <a:rPr lang="es-UY" dirty="0">
                <a:solidFill>
                  <a:srgbClr val="47413C"/>
                </a:solidFill>
                <a:latin typeface="Montserrat"/>
                <a:ea typeface="Montserrat"/>
                <a:cs typeface="Montserrat"/>
                <a:sym typeface="Montserrat"/>
              </a:rPr>
              <a:t>3. </a:t>
            </a:r>
            <a:r>
              <a:rPr lang="es-UY" dirty="0" err="1">
                <a:solidFill>
                  <a:srgbClr val="47413C"/>
                </a:solidFill>
                <a:latin typeface="Montserrat"/>
                <a:ea typeface="Montserrat"/>
                <a:cs typeface="Montserrat"/>
                <a:sym typeface="Montserrat"/>
              </a:rPr>
              <a:t>Select</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Pay</a:t>
            </a:r>
            <a:r>
              <a:rPr lang="es-UY" dirty="0">
                <a:solidFill>
                  <a:srgbClr val="47413C"/>
                </a:solidFill>
                <a:latin typeface="Montserrat"/>
                <a:ea typeface="Montserrat"/>
                <a:cs typeface="Montserrat"/>
                <a:sym typeface="Montserrat"/>
              </a:rPr>
              <a:t> </a:t>
            </a:r>
            <a:r>
              <a:rPr lang="es-UY" dirty="0" err="1">
                <a:solidFill>
                  <a:srgbClr val="47413C"/>
                </a:solidFill>
                <a:latin typeface="Montserrat"/>
                <a:ea typeface="Montserrat"/>
                <a:cs typeface="Montserrat"/>
                <a:sym typeface="Montserrat"/>
              </a:rPr>
              <a:t>now</a:t>
            </a:r>
            <a:br>
              <a:rPr lang="es-UY" dirty="0">
                <a:solidFill>
                  <a:srgbClr val="47413C"/>
                </a:solidFill>
                <a:latin typeface="Montserrat"/>
                <a:ea typeface="Montserrat"/>
                <a:cs typeface="Montserrat"/>
                <a:sym typeface="Montserrat"/>
              </a:rPr>
            </a:br>
            <a:endParaRPr lang="es-UY"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pic>
        <p:nvPicPr>
          <p:cNvPr id="4" name="Imagen 3">
            <a:extLst>
              <a:ext uri="{FF2B5EF4-FFF2-40B4-BE49-F238E27FC236}">
                <a16:creationId xmlns:a16="http://schemas.microsoft.com/office/drawing/2014/main" id="{C660FB82-3C4F-BD10-4562-CE28692038BA}"/>
              </a:ext>
            </a:extLst>
          </p:cNvPr>
          <p:cNvPicPr>
            <a:picLocks noChangeAspect="1"/>
          </p:cNvPicPr>
          <p:nvPr/>
        </p:nvPicPr>
        <p:blipFill>
          <a:blip r:embed="rId4"/>
          <a:stretch>
            <a:fillRect/>
          </a:stretch>
        </p:blipFill>
        <p:spPr>
          <a:xfrm>
            <a:off x="3186768" y="1399800"/>
            <a:ext cx="6989619" cy="5007488"/>
          </a:xfrm>
          <a:prstGeom prst="rect">
            <a:avLst/>
          </a:prstGeom>
        </p:spPr>
      </p:pic>
    </p:spTree>
    <p:extLst>
      <p:ext uri="{BB962C8B-B14F-4D97-AF65-F5344CB8AC3E}">
        <p14:creationId xmlns:p14="http://schemas.microsoft.com/office/powerpoint/2010/main" val="3295454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611830" y="1399800"/>
            <a:ext cx="7343449" cy="1626864"/>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Important</a:t>
            </a:r>
            <a:r>
              <a:rPr lang="es-UY" sz="1600" b="1" dirty="0">
                <a:solidFill>
                  <a:srgbClr val="47413C"/>
                </a:solidFill>
                <a:latin typeface="Montserrat"/>
                <a:ea typeface="Montserrat"/>
                <a:cs typeface="Montserrat"/>
                <a:sym typeface="Montserrat"/>
              </a:rPr>
              <a:t> notes:</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Use Bogus payment just as example</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Payment methods defined previously in different markets will be available</a:t>
            </a:r>
          </a:p>
          <a:p>
            <a:pPr marL="139700" lvl="0" algn="l" rtl="0">
              <a:lnSpc>
                <a:spcPct val="115000"/>
              </a:lnSpc>
              <a:spcBef>
                <a:spcPts val="600"/>
              </a:spcBef>
              <a:spcAft>
                <a:spcPts val="0"/>
              </a:spcAft>
              <a:buClr>
                <a:srgbClr val="47413C"/>
              </a:buClr>
              <a:buSzPts val="1400"/>
            </a:pP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endParaRPr lang="en" dirty="0">
              <a:solidFill>
                <a:srgbClr val="47413C"/>
              </a:solidFill>
              <a:latin typeface="Montserrat"/>
              <a:ea typeface="Montserrat"/>
              <a:cs typeface="Montserrat"/>
              <a:sym typeface="Montserrat"/>
            </a:endParaRPr>
          </a:p>
          <a:p>
            <a:pPr marL="139700" lvl="0" algn="l" rtl="0">
              <a:lnSpc>
                <a:spcPct val="115000"/>
              </a:lnSpc>
              <a:spcBef>
                <a:spcPts val="600"/>
              </a:spcBef>
              <a:spcAft>
                <a:spcPts val="0"/>
              </a:spcAft>
              <a:buClr>
                <a:srgbClr val="47413C"/>
              </a:buClr>
              <a:buSzPts val="1400"/>
            </a:pPr>
            <a:endParaRPr lang="en"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Checkout flow</a:t>
            </a:r>
            <a:endParaRPr sz="5200" dirty="0">
              <a:solidFill>
                <a:srgbClr val="47413C"/>
              </a:solidFill>
              <a:latin typeface="Verdana"/>
              <a:ea typeface="Verdana"/>
              <a:cs typeface="Verdana"/>
              <a:sym typeface="Verdana"/>
            </a:endParaRPr>
          </a:p>
        </p:txBody>
      </p:sp>
    </p:spTree>
    <p:extLst>
      <p:ext uri="{BB962C8B-B14F-4D97-AF65-F5344CB8AC3E}">
        <p14:creationId xmlns:p14="http://schemas.microsoft.com/office/powerpoint/2010/main" val="243095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533174" y="1273443"/>
            <a:ext cx="7343449" cy="1626864"/>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You</a:t>
            </a:r>
            <a:r>
              <a:rPr lang="es-UY" sz="1600" b="1" dirty="0">
                <a:solidFill>
                  <a:srgbClr val="47413C"/>
                </a:solidFill>
                <a:latin typeface="Montserrat"/>
                <a:ea typeface="Montserrat"/>
                <a:cs typeface="Montserrat"/>
                <a:sym typeface="Montserrat"/>
              </a:rPr>
              <a:t> can </a:t>
            </a:r>
            <a:r>
              <a:rPr lang="es-UY" sz="1600" b="1" dirty="0" err="1">
                <a:solidFill>
                  <a:srgbClr val="47413C"/>
                </a:solidFill>
                <a:latin typeface="Montserrat"/>
                <a:ea typeface="Montserrat"/>
                <a:cs typeface="Montserrat"/>
                <a:sym typeface="Montserrat"/>
              </a:rPr>
              <a:t>add</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multiple</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payment</a:t>
            </a:r>
            <a:r>
              <a:rPr lang="es-UY" sz="1600" b="1" dirty="0">
                <a:solidFill>
                  <a:srgbClr val="47413C"/>
                </a:solidFill>
                <a:latin typeface="Montserrat"/>
                <a:ea typeface="Montserrat"/>
                <a:cs typeface="Montserrat"/>
                <a:sym typeface="Montserrat"/>
              </a:rPr>
              <a:t> </a:t>
            </a:r>
            <a:r>
              <a:rPr lang="es-UY" sz="1600" b="1" dirty="0" err="1">
                <a:solidFill>
                  <a:srgbClr val="47413C"/>
                </a:solidFill>
                <a:latin typeface="Montserrat"/>
                <a:ea typeface="Montserrat"/>
                <a:cs typeface="Montserrat"/>
                <a:sym typeface="Montserrat"/>
              </a:rPr>
              <a:t>methods</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Cards: Visa, MasterCard, Discover, American Express, etc.</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PayPal.</a:t>
            </a: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Also Cryptocurrencies (Binance USD).</a:t>
            </a:r>
          </a:p>
          <a:p>
            <a:pPr marL="139700" lvl="0" algn="l" rtl="0">
              <a:lnSpc>
                <a:spcPct val="115000"/>
              </a:lnSpc>
              <a:spcBef>
                <a:spcPts val="600"/>
              </a:spcBef>
              <a:spcAft>
                <a:spcPts val="0"/>
              </a:spcAft>
              <a:buClr>
                <a:srgbClr val="47413C"/>
              </a:buClr>
              <a:buSzPts val="1400"/>
            </a:pP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endParaRPr lang="en"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endParaRPr lang="en" dirty="0">
              <a:solidFill>
                <a:srgbClr val="47413C"/>
              </a:solidFill>
              <a:latin typeface="Montserrat"/>
              <a:ea typeface="Montserrat"/>
              <a:cs typeface="Montserrat"/>
              <a:sym typeface="Montserrat"/>
            </a:endParaRPr>
          </a:p>
          <a:p>
            <a:pPr marL="139700" lvl="0" algn="l" rtl="0">
              <a:lnSpc>
                <a:spcPct val="115000"/>
              </a:lnSpc>
              <a:spcBef>
                <a:spcPts val="600"/>
              </a:spcBef>
              <a:spcAft>
                <a:spcPts val="0"/>
              </a:spcAft>
              <a:buClr>
                <a:srgbClr val="47413C"/>
              </a:buClr>
              <a:buSzPts val="1400"/>
            </a:pPr>
            <a:endParaRPr lang="en"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Payment methods</a:t>
            </a:r>
            <a:endParaRPr sz="5200" dirty="0">
              <a:solidFill>
                <a:srgbClr val="47413C"/>
              </a:solidFill>
              <a:latin typeface="Verdana"/>
              <a:ea typeface="Verdana"/>
              <a:cs typeface="Verdana"/>
              <a:sym typeface="Verdana"/>
            </a:endParaRPr>
          </a:p>
        </p:txBody>
      </p:sp>
      <p:pic>
        <p:nvPicPr>
          <p:cNvPr id="3" name="Imagen 2">
            <a:extLst>
              <a:ext uri="{FF2B5EF4-FFF2-40B4-BE49-F238E27FC236}">
                <a16:creationId xmlns:a16="http://schemas.microsoft.com/office/drawing/2014/main" id="{58BE3E2B-94CC-BEF5-D590-0C595404660C}"/>
              </a:ext>
            </a:extLst>
          </p:cNvPr>
          <p:cNvPicPr>
            <a:picLocks noChangeAspect="1"/>
          </p:cNvPicPr>
          <p:nvPr/>
        </p:nvPicPr>
        <p:blipFill>
          <a:blip r:embed="rId4"/>
          <a:stretch>
            <a:fillRect/>
          </a:stretch>
        </p:blipFill>
        <p:spPr>
          <a:xfrm>
            <a:off x="267998" y="3317458"/>
            <a:ext cx="4182162" cy="3074917"/>
          </a:xfrm>
          <a:prstGeom prst="rect">
            <a:avLst/>
          </a:prstGeom>
        </p:spPr>
      </p:pic>
      <p:pic>
        <p:nvPicPr>
          <p:cNvPr id="5" name="Imagen 4">
            <a:extLst>
              <a:ext uri="{FF2B5EF4-FFF2-40B4-BE49-F238E27FC236}">
                <a16:creationId xmlns:a16="http://schemas.microsoft.com/office/drawing/2014/main" id="{9A5CF646-0D5E-EFBF-1D39-26CCED9D4AF1}"/>
              </a:ext>
            </a:extLst>
          </p:cNvPr>
          <p:cNvPicPr>
            <a:picLocks noChangeAspect="1"/>
          </p:cNvPicPr>
          <p:nvPr/>
        </p:nvPicPr>
        <p:blipFill>
          <a:blip r:embed="rId5"/>
          <a:stretch>
            <a:fillRect/>
          </a:stretch>
        </p:blipFill>
        <p:spPr>
          <a:xfrm>
            <a:off x="4876225" y="3317458"/>
            <a:ext cx="4066607" cy="2941722"/>
          </a:xfrm>
          <a:prstGeom prst="rect">
            <a:avLst/>
          </a:prstGeom>
        </p:spPr>
      </p:pic>
    </p:spTree>
    <p:extLst>
      <p:ext uri="{BB962C8B-B14F-4D97-AF65-F5344CB8AC3E}">
        <p14:creationId xmlns:p14="http://schemas.microsoft.com/office/powerpoint/2010/main" val="37593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Shape 118"/>
        <p:cNvGrpSpPr/>
        <p:nvPr/>
      </p:nvGrpSpPr>
      <p:grpSpPr>
        <a:xfrm>
          <a:off x="0" y="0"/>
          <a:ext cx="0" cy="0"/>
          <a:chOff x="0" y="0"/>
          <a:chExt cx="0" cy="0"/>
        </a:xfrm>
      </p:grpSpPr>
      <p:pic>
        <p:nvPicPr>
          <p:cNvPr id="119" name="Google Shape;119;p21"/>
          <p:cNvPicPr preferRelativeResize="0"/>
          <p:nvPr/>
        </p:nvPicPr>
        <p:blipFill>
          <a:blip r:embed="rId3">
            <a:alphaModFix/>
          </a:blip>
          <a:stretch>
            <a:fillRect/>
          </a:stretch>
        </p:blipFill>
        <p:spPr>
          <a:xfrm>
            <a:off x="10544967" y="6238316"/>
            <a:ext cx="1591600" cy="506433"/>
          </a:xfrm>
          <a:prstGeom prst="rect">
            <a:avLst/>
          </a:prstGeom>
          <a:noFill/>
          <a:ln>
            <a:noFill/>
          </a:ln>
        </p:spPr>
      </p:pic>
      <p:sp>
        <p:nvSpPr>
          <p:cNvPr id="120" name="Google Shape;120;p21"/>
          <p:cNvSpPr txBox="1"/>
          <p:nvPr/>
        </p:nvSpPr>
        <p:spPr>
          <a:xfrm>
            <a:off x="611831" y="1399800"/>
            <a:ext cx="6465000" cy="54582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600"/>
              </a:spcBef>
              <a:spcAft>
                <a:spcPts val="0"/>
              </a:spcAft>
              <a:buNone/>
            </a:pPr>
            <a:r>
              <a:rPr lang="es-UY" sz="1600" b="1" dirty="0" err="1">
                <a:solidFill>
                  <a:srgbClr val="47413C"/>
                </a:solidFill>
                <a:latin typeface="Montserrat"/>
                <a:ea typeface="Montserrat"/>
                <a:cs typeface="Montserrat"/>
                <a:sym typeface="Montserrat"/>
              </a:rPr>
              <a:t>Important</a:t>
            </a:r>
            <a:r>
              <a:rPr lang="es-UY" sz="1600" b="1" dirty="0">
                <a:solidFill>
                  <a:srgbClr val="47413C"/>
                </a:solidFill>
                <a:latin typeface="Montserrat"/>
                <a:ea typeface="Montserrat"/>
                <a:cs typeface="Montserrat"/>
                <a:sym typeface="Montserrat"/>
              </a:rPr>
              <a:t> notes:</a:t>
            </a:r>
            <a:endParaRPr sz="1600" b="1" dirty="0">
              <a:solidFill>
                <a:srgbClr val="47413C"/>
              </a:solidFill>
              <a:latin typeface="Montserrat"/>
              <a:ea typeface="Montserrat"/>
              <a:cs typeface="Montserrat"/>
              <a:sym typeface="Montserrat"/>
            </a:endParaRPr>
          </a:p>
          <a:p>
            <a:pPr marL="457200" lvl="0" indent="-317500" algn="l" rtl="0">
              <a:lnSpc>
                <a:spcPct val="115000"/>
              </a:lnSpc>
              <a:spcBef>
                <a:spcPts val="600"/>
              </a:spcBef>
              <a:spcAft>
                <a:spcPts val="0"/>
              </a:spcAft>
              <a:buClr>
                <a:srgbClr val="47413C"/>
              </a:buClr>
              <a:buSzPts val="1400"/>
              <a:buFont typeface="Montserrat"/>
              <a:buChar char="●"/>
            </a:pPr>
            <a:r>
              <a:rPr lang="en" dirty="0">
                <a:solidFill>
                  <a:srgbClr val="47413C"/>
                </a:solidFill>
                <a:latin typeface="Montserrat"/>
                <a:ea typeface="Montserrat"/>
                <a:cs typeface="Montserrat"/>
                <a:sym typeface="Montserrat"/>
              </a:rPr>
              <a:t>Multiple languages can be installed on our site.</a:t>
            </a:r>
          </a:p>
          <a:p>
            <a:pPr marL="457200" lvl="0" indent="-317500" algn="l" rtl="0">
              <a:lnSpc>
                <a:spcPct val="115000"/>
              </a:lnSpc>
              <a:spcBef>
                <a:spcPts val="600"/>
              </a:spcBef>
              <a:spcAft>
                <a:spcPts val="0"/>
              </a:spcAft>
              <a:buClr>
                <a:srgbClr val="47413C"/>
              </a:buClr>
              <a:buSzPts val="1400"/>
              <a:buFont typeface="Montserrat"/>
              <a:buChar char="●"/>
            </a:pPr>
            <a:r>
              <a:rPr lang="es-UY" dirty="0">
                <a:solidFill>
                  <a:srgbClr val="47413C"/>
                </a:solidFill>
                <a:latin typeface="Montserrat"/>
                <a:ea typeface="Montserrat"/>
                <a:cs typeface="Montserrat"/>
                <a:sym typeface="Montserrat"/>
              </a:rPr>
              <a:t>T</a:t>
            </a:r>
            <a:r>
              <a:rPr lang="en" dirty="0">
                <a:solidFill>
                  <a:srgbClr val="47413C"/>
                </a:solidFill>
                <a:latin typeface="Montserrat"/>
                <a:ea typeface="Montserrat"/>
                <a:cs typeface="Montserrat"/>
                <a:sym typeface="Montserrat"/>
              </a:rPr>
              <a:t>o access them, simply add “/es”, or “/en”, or the one corresponding abbreviation in each language.</a:t>
            </a:r>
          </a:p>
          <a:p>
            <a:pPr marL="139700">
              <a:lnSpc>
                <a:spcPct val="115000"/>
              </a:lnSpc>
              <a:spcBef>
                <a:spcPts val="600"/>
              </a:spcBef>
              <a:buClr>
                <a:srgbClr val="47413C"/>
              </a:buClr>
              <a:buSzPts val="1400"/>
            </a:pPr>
            <a:br>
              <a:rPr lang="en" dirty="0">
                <a:solidFill>
                  <a:srgbClr val="47413C"/>
                </a:solidFill>
                <a:latin typeface="Montserrat"/>
                <a:ea typeface="Montserrat"/>
                <a:cs typeface="Montserrat"/>
                <a:sym typeface="Montserrat"/>
              </a:rPr>
            </a:br>
            <a:endParaRPr dirty="0">
              <a:solidFill>
                <a:srgbClr val="47413C"/>
              </a:solidFill>
              <a:latin typeface="Montserrat"/>
              <a:ea typeface="Montserrat"/>
              <a:cs typeface="Montserrat"/>
              <a:sym typeface="Montserrat"/>
            </a:endParaRPr>
          </a:p>
        </p:txBody>
      </p:sp>
      <p:sp>
        <p:nvSpPr>
          <p:cNvPr id="123" name="Google Shape;123;p21"/>
          <p:cNvSpPr txBox="1"/>
          <p:nvPr/>
        </p:nvSpPr>
        <p:spPr>
          <a:xfrm>
            <a:off x="533174" y="450543"/>
            <a:ext cx="9346500" cy="8229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None/>
            </a:pPr>
            <a:r>
              <a:rPr lang="en" sz="5200" dirty="0">
                <a:solidFill>
                  <a:srgbClr val="47413C"/>
                </a:solidFill>
                <a:latin typeface="Verdana"/>
                <a:ea typeface="Verdana"/>
                <a:cs typeface="Verdana"/>
                <a:sym typeface="Verdana"/>
              </a:rPr>
              <a:t>Multilanguage</a:t>
            </a:r>
            <a:endParaRPr sz="5200" dirty="0">
              <a:solidFill>
                <a:srgbClr val="47413C"/>
              </a:solidFill>
              <a:latin typeface="Verdana"/>
              <a:ea typeface="Verdana"/>
              <a:cs typeface="Verdana"/>
              <a:sym typeface="Verdana"/>
            </a:endParaRPr>
          </a:p>
        </p:txBody>
      </p:sp>
    </p:spTree>
    <p:extLst>
      <p:ext uri="{BB962C8B-B14F-4D97-AF65-F5344CB8AC3E}">
        <p14:creationId xmlns:p14="http://schemas.microsoft.com/office/powerpoint/2010/main" val="278405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1068</Words>
  <Application>Microsoft Office PowerPoint</Application>
  <PresentationFormat>Panorámica</PresentationFormat>
  <Paragraphs>149</Paragraphs>
  <Slides>22</Slides>
  <Notes>22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Verdana</vt:lpstr>
      <vt:lpstr>Montserrat</vt:lpstr>
      <vt:lpstr>Arial</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Diego Gallo</dc:creator>
  <cp:lastModifiedBy>ilan.daniele@gmail.com</cp:lastModifiedBy>
  <cp:revision>12</cp:revision>
  <dcterms:modified xsi:type="dcterms:W3CDTF">2025-04-11T17:55:59Z</dcterms:modified>
</cp:coreProperties>
</file>